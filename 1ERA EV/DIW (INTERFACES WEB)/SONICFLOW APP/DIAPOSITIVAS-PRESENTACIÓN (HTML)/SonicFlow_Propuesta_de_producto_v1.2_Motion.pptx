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DB4F5664-FBD9-5D3A-0C10-2F7822005950}">
          <p14:sldIdLst>
            <p14:sldId id="256"/>
            <p14:sldId id="257"/>
          </p14:sldIdLst>
        </p14:section>
        <p14:section name="Contexto" id="{C49AD097-4545-67E1-FC78-4EE6A1A12D3A}">
          <p14:sldIdLst>
            <p14:sldId id="258"/>
            <p14:sldId id="259"/>
          </p14:sldIdLst>
        </p14:section>
        <p14:section name="Producto" id="{138471E9-1BCC-1E6C-C52E-0408DD3FE728}">
          <p14:sldIdLst>
            <p14:sldId id="260"/>
            <p14:sldId id="261"/>
            <p14:sldId id="262"/>
            <p14:sldId id="263"/>
          </p14:sldIdLst>
        </p14:section>
        <p14:section name="Plan" id="{0C717330-B717-247D-A3D4-6710FC966411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98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F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"/>
            <a:ext cx="201168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chemeClr val="bg1"/>
                </a:solidFill>
              </a:rPr>
              <a:t>SONICFLOW</a:t>
            </a:r>
            <a:endParaRPr lang="en-US" sz="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1097280"/>
            <a:ext cx="54864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5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02920" y="1371600"/>
            <a:ext cx="548640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600" kern="0" spc="-3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7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F_TITLE_C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"/>
            <a:ext cx="201168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chemeClr val="bg1"/>
                </a:solidFill>
              </a:rPr>
              <a:t>SONICFLOW</a:t>
            </a:r>
            <a:endParaRPr lang="en-US" sz="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603504"/>
            <a:ext cx="68580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5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896112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kern="0" spc="-6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F_STATEMENT_C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"/>
            <a:ext cx="201168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chemeClr val="bg1"/>
                </a:solidFill>
              </a:rPr>
              <a:t>SONICFLOW</a:t>
            </a:r>
            <a:endParaRPr lang="en-US" sz="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1234440"/>
            <a:ext cx="54864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5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1572768"/>
            <a:ext cx="548640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4000" kern="0" spc="-100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F_TITLE_V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"/>
            <a:ext cx="201168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chemeClr val="bg1"/>
                </a:solidFill>
              </a:rPr>
              <a:t>SONICFLOW</a:t>
            </a:r>
            <a:endParaRPr lang="en-US" sz="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603504"/>
            <a:ext cx="68580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50" b="1" kern="0" spc="3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896112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kern="0" spc="-6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F_STATEMENT_V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"/>
            <a:ext cx="201168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chemeClr val="bg1"/>
                </a:solidFill>
              </a:rPr>
              <a:t>SONICFLOW</a:t>
            </a:r>
            <a:endParaRPr lang="en-US" sz="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1234440"/>
            <a:ext cx="54864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50" b="1" kern="0" spc="3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1572768"/>
            <a:ext cx="548640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4000" kern="0" spc="-100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F_TITLE_P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"/>
            <a:ext cx="201168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chemeClr val="bg1"/>
                </a:solidFill>
              </a:rPr>
              <a:t>SONICFLOW</a:t>
            </a:r>
            <a:endParaRPr lang="en-US" sz="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603504"/>
            <a:ext cx="68580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50" b="1" kern="0" spc="3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896112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kern="0" spc="-6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F_STATEMENT_P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"/>
            <a:ext cx="201168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chemeClr val="bg1"/>
                </a:solidFill>
              </a:rPr>
              <a:t>SONICFLOW</a:t>
            </a:r>
            <a:endParaRPr lang="en-US" sz="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1234440"/>
            <a:ext cx="54864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50" b="1" kern="0" spc="3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1572768"/>
            <a:ext cx="548640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4000" kern="0" spc="-100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F_TITLE_G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"/>
            <a:ext cx="201168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chemeClr val="bg1"/>
                </a:solidFill>
              </a:rPr>
              <a:t>SONICFLOW</a:t>
            </a:r>
            <a:endParaRPr lang="en-US" sz="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603504"/>
            <a:ext cx="68580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50" b="1" kern="0" spc="3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896112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kern="0" spc="-6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F_STATEMENT_G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"/>
            <a:ext cx="201168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chemeClr val="bg1"/>
                </a:solidFill>
              </a:rPr>
              <a:t>SONICFLOW</a:t>
            </a:r>
            <a:endParaRPr lang="en-US" sz="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1234440"/>
            <a:ext cx="54864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50" b="1" kern="0" spc="3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1572768"/>
            <a:ext cx="548640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4000" kern="0" spc="-100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10972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chemeClr val="accent6"/>
                </a:solidFill>
              </a:rPr>
              <a:t>01  </a:t>
            </a:r>
            <a:r>
              <a:rPr lang="en-US" sz="850" b="1" kern="0" spc="300" dirty="0">
                <a:solidFill>
                  <a:schemeClr val="accent1"/>
                </a:solidFill>
              </a:rPr>
              <a:t>—  PROPUESTA DE PRODUCTO · V1.2 · OCTUBRE 2026</a:t>
            </a:r>
            <a:endParaRPr lang="en-US" sz="85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02920" y="137160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0" kern="0" spc="-300" dirty="0">
                <a:solidFill>
                  <a:schemeClr val="bg1"/>
                </a:solidFill>
              </a:rPr>
              <a:t>SonicFlow</a:t>
            </a:r>
            <a:endParaRPr lang="en-US" sz="7600" dirty="0"/>
          </a:p>
        </p:txBody>
      </p:sp>
      <p:sp>
        <p:nvSpPr>
          <p:cNvPr id="4" name="Subtítulo"/>
          <p:cNvSpPr txBox="1"/>
          <p:nvPr/>
        </p:nvSpPr>
        <p:spPr>
          <a:xfrm>
            <a:off x="548640" y="2560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Sonido, reimaginado.</a:t>
            </a:r>
            <a:endParaRPr lang="en-US" sz="2200" dirty="0"/>
          </a:p>
        </p:txBody>
      </p:sp>
      <p:pic>
        <p:nvPicPr>
          <p:cNvPr id="5" name="Ecualizado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0"/>
            <a:ext cx="4572000" cy="779318"/>
          </a:xfrm>
          <a:prstGeom prst="rect">
            <a:avLst/>
          </a:prstGeom>
        </p:spPr>
      </p:pic>
      <p:sp>
        <p:nvSpPr>
          <p:cNvPr id="6" name="Géneros"/>
          <p:cNvSpPr txBox="1"/>
          <p:nvPr/>
        </p:nvSpPr>
        <p:spPr>
          <a:xfrm>
            <a:off x="548640" y="4160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alpha val="140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Jazz    Hip Hop    Electronic    Classical    Indie</a:t>
            </a:r>
            <a:endParaRPr lang="en-US" sz="1800" dirty="0"/>
          </a:p>
        </p:txBody>
      </p:sp>
      <p:pic>
        <p:nvPicPr>
          <p:cNvPr id="7" name="Pantalla Now Playing de SonicFlow" descr="Pantalla Now Playing de Sonic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92608"/>
            <a:ext cx="256049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e fondo"/>
          <p:cNvSpPr txBox="1"/>
          <p:nvPr/>
        </p:nvSpPr>
        <p:spPr>
          <a:xfrm>
            <a:off x="5120640" y="2788920"/>
            <a:ext cx="3931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5000" kern="0" spc="-600" dirty="0">
                <a:solidFill>
                  <a:schemeClr val="bg1">
                    <a:alpha val="35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1234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chemeClr val="accent6"/>
                </a:solidFill>
              </a:rPr>
              <a:t>02  </a:t>
            </a:r>
            <a:r>
              <a:rPr lang="en-US" sz="850" b="1" kern="0" spc="300" dirty="0">
                <a:solidFill>
                  <a:schemeClr val="accent3"/>
                </a:solidFill>
              </a:rPr>
              <a:t>—  LA IDEA</a:t>
            </a:r>
            <a:endParaRPr lang="en-US" sz="85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157276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000" kern="0" spc="-100" dirty="0">
                <a:solidFill>
                  <a:schemeClr val="bg1"/>
                </a:solidFill>
              </a:rPr>
              <a:t>La música no debería </a:t>
            </a:r>
            <a:r>
              <a:rPr lang="en-US" sz="4000" kern="0" spc="-100" dirty="0">
                <a:solidFill>
                  <a:schemeClr val="accent3"/>
                </a:solidFill>
              </a:rPr>
              <a:t>sonar a una app.</a:t>
            </a:r>
            <a:endParaRPr lang="en-US" sz="4000" dirty="0"/>
          </a:p>
        </p:txBody>
      </p:sp>
      <p:sp>
        <p:nvSpPr>
          <p:cNvPr id="5" name="Texto"/>
          <p:cNvSpPr txBox="1"/>
          <p:nvPr/>
        </p:nvSpPr>
        <p:spPr>
          <a:xfrm>
            <a:off x="548640" y="30632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accent6"/>
                </a:solidFill>
              </a:rPr>
              <a:t>Demasiada interfaz, demasiadas decisiones y poco espacio para lo único que importa: la escucha activa.</a:t>
            </a:r>
            <a:endParaRPr lang="en-US" sz="1500" dirty="0"/>
          </a:p>
        </p:txBody>
      </p:sp>
      <p:sp>
        <p:nvSpPr>
          <p:cNvPr id="6" name="Ondas · anillo 1"/>
          <p:cNvSpPr/>
          <p:nvPr/>
        </p:nvSpPr>
        <p:spPr>
          <a:xfrm>
            <a:off x="6949440" y="2240280"/>
            <a:ext cx="822960" cy="822960"/>
          </a:xfrm>
          <a:prstGeom prst="ellipse">
            <a:avLst/>
          </a:prstGeom>
          <a:solidFill>
            <a:schemeClr val="accent3">
              <a:alpha val="0"/>
            </a:schemeClr>
          </a:solidFill>
          <a:ln w="1270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7" name="Ondas · anillo 2"/>
          <p:cNvSpPr/>
          <p:nvPr/>
        </p:nvSpPr>
        <p:spPr>
          <a:xfrm>
            <a:off x="6629400" y="1920240"/>
            <a:ext cx="1463040" cy="1463040"/>
          </a:xfrm>
          <a:prstGeom prst="ellipse">
            <a:avLst/>
          </a:prstGeom>
          <a:solidFill>
            <a:schemeClr val="accent3">
              <a:alpha val="0"/>
            </a:schemeClr>
          </a:solidFill>
          <a:ln w="12700">
            <a:solidFill>
              <a:schemeClr val="accent3">
                <a:alpha val="51000"/>
              </a:schemeClr>
            </a:solidFill>
            <a:prstDash val="solid"/>
          </a:ln>
        </p:spPr>
      </p:sp>
      <p:sp>
        <p:nvSpPr>
          <p:cNvPr id="8" name="Ondas · anillo 3"/>
          <p:cNvSpPr/>
          <p:nvPr/>
        </p:nvSpPr>
        <p:spPr>
          <a:xfrm>
            <a:off x="6309360" y="1600200"/>
            <a:ext cx="2103120" cy="2103120"/>
          </a:xfrm>
          <a:prstGeom prst="ellipse">
            <a:avLst/>
          </a:prstGeom>
          <a:solidFill>
            <a:schemeClr val="accent3">
              <a:alpha val="0"/>
            </a:schemeClr>
          </a:solidFill>
          <a:ln w="12700">
            <a:solidFill>
              <a:schemeClr val="accent3">
                <a:alpha val="37000"/>
              </a:schemeClr>
            </a:solidFill>
            <a:prstDash val="solid"/>
          </a:ln>
        </p:spPr>
      </p:sp>
      <p:sp>
        <p:nvSpPr>
          <p:cNvPr id="9" name="Ondas · anillo 4"/>
          <p:cNvSpPr/>
          <p:nvPr/>
        </p:nvSpPr>
        <p:spPr>
          <a:xfrm>
            <a:off x="5989320" y="1280160"/>
            <a:ext cx="2743200" cy="2743200"/>
          </a:xfrm>
          <a:prstGeom prst="ellipse">
            <a:avLst/>
          </a:prstGeom>
          <a:solidFill>
            <a:schemeClr val="accent3">
              <a:alpha val="0"/>
            </a:schemeClr>
          </a:solidFill>
          <a:ln w="12700">
            <a:solidFill>
              <a:schemeClr val="accent3">
                <a:alpha val="23000"/>
              </a:schemeClr>
            </a:solidFill>
            <a:prstDash val="solid"/>
          </a:ln>
        </p:spPr>
      </p:sp>
      <p:sp>
        <p:nvSpPr>
          <p:cNvPr id="10" name="Ondas · punto"/>
          <p:cNvSpPr/>
          <p:nvPr/>
        </p:nvSpPr>
        <p:spPr>
          <a:xfrm>
            <a:off x="7242048" y="253288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228600" dist="50800" dir="16200000" algn="bl" rotWithShape="0">
              <a:srgbClr val="EC4C7C">
                <a:alpha val="80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e fondo"/>
          <p:cNvSpPr txBox="1"/>
          <p:nvPr/>
        </p:nvSpPr>
        <p:spPr>
          <a:xfrm>
            <a:off x="5120640" y="2788920"/>
            <a:ext cx="3931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5000" kern="0" spc="-600" dirty="0">
                <a:solidFill>
                  <a:schemeClr val="bg1">
                    <a:alpha val="35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6035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chemeClr val="accent6"/>
                </a:solidFill>
              </a:rPr>
              <a:t>03  </a:t>
            </a:r>
            <a:r>
              <a:rPr lang="en-US" sz="850" b="1" kern="0" spc="300" dirty="0">
                <a:solidFill>
                  <a:schemeClr val="accent3"/>
                </a:solidFill>
              </a:rPr>
              <a:t>—  EL CONTEXTO</a:t>
            </a:r>
            <a:endParaRPr lang="en-US" sz="85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89611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kern="0" spc="-60" dirty="0">
                <a:solidFill>
                  <a:schemeClr val="bg1"/>
                </a:solidFill>
              </a:rPr>
              <a:t>Un hueco claro </a:t>
            </a:r>
            <a:r>
              <a:rPr lang="en-US" sz="2800" kern="0" spc="-60" dirty="0">
                <a:solidFill>
                  <a:schemeClr val="accent3"/>
                </a:solidFill>
              </a:rPr>
              <a:t>en la experiencia</a:t>
            </a:r>
            <a:endParaRPr lang="en-US" sz="2800" dirty="0"/>
          </a:p>
        </p:txBody>
      </p:sp>
      <p:sp>
        <p:nvSpPr>
          <p:cNvPr id="5" name="Tarjeta · El ruido"/>
          <p:cNvSpPr/>
          <p:nvPr/>
        </p:nvSpPr>
        <p:spPr>
          <a:xfrm>
            <a:off x="548640" y="1783080"/>
            <a:ext cx="3794760" cy="2514600"/>
          </a:xfrm>
          <a:prstGeom prst="roundRect">
            <a:avLst>
              <a:gd name="adj" fmla="val 5818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bg1">
                <a:alpha val="14000"/>
              </a:schemeClr>
            </a:solidFill>
            <a:prstDash val="solid"/>
          </a:ln>
        </p:spPr>
      </p:sp>
      <p:sp>
        <p:nvSpPr>
          <p:cNvPr id="6" name="El ruido · círculo"/>
          <p:cNvSpPr/>
          <p:nvPr/>
        </p:nvSpPr>
        <p:spPr>
          <a:xfrm>
            <a:off x="841248" y="2075688"/>
            <a:ext cx="457200" cy="457200"/>
          </a:xfrm>
          <a:prstGeom prst="ellipse">
            <a:avLst/>
          </a:prstGeom>
          <a:solidFill>
            <a:schemeClr val="accent3">
              <a:alpha val="18000"/>
            </a:schemeClr>
          </a:solidFill>
          <a:ln w="9525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7" name="El ruido ·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94560"/>
            <a:ext cx="219456" cy="219456"/>
          </a:xfrm>
          <a:prstGeom prst="rect">
            <a:avLst/>
          </a:prstGeom>
        </p:spPr>
      </p:pic>
      <p:sp>
        <p:nvSpPr>
          <p:cNvPr id="8" name="El ruido · etiqueta"/>
          <p:cNvSpPr txBox="1"/>
          <p:nvPr/>
        </p:nvSpPr>
        <p:spPr>
          <a:xfrm>
            <a:off x="1444752" y="2075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3"/>
                </a:solidFill>
              </a:rPr>
              <a:t>EL RUIDO</a:t>
            </a:r>
            <a:endParaRPr lang="en-US" sz="900" dirty="0"/>
          </a:p>
        </p:txBody>
      </p:sp>
      <p:sp>
        <p:nvSpPr>
          <p:cNvPr id="9" name="El ruido · idea"/>
          <p:cNvSpPr txBox="1"/>
          <p:nvPr/>
        </p:nvSpPr>
        <p:spPr>
          <a:xfrm>
            <a:off x="841248" y="2743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bg1"/>
                </a:solidFill>
              </a:rPr>
              <a:t>Algoritmos intrusivos y saturación visual que fragmentan la atención del oyente.</a:t>
            </a:r>
            <a:endParaRPr lang="en-US" sz="1500" dirty="0"/>
          </a:p>
        </p:txBody>
      </p:sp>
      <p:sp>
        <p:nvSpPr>
          <p:cNvPr id="10" name="El ruido · detalle"/>
          <p:cNvSpPr txBox="1"/>
          <p:nvPr/>
        </p:nvSpPr>
        <p:spPr>
          <a:xfrm>
            <a:off x="841248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El mercado actual prioriza el consumo rápido sobre la calidad del momento de escucha.</a:t>
            </a:r>
            <a:endParaRPr lang="en-US" sz="1150" dirty="0"/>
          </a:p>
        </p:txBody>
      </p:sp>
      <p:sp>
        <p:nvSpPr>
          <p:cNvPr id="11" name="Tarjeta · La oportunidad"/>
          <p:cNvSpPr/>
          <p:nvPr/>
        </p:nvSpPr>
        <p:spPr>
          <a:xfrm>
            <a:off x="4800600" y="1783080"/>
            <a:ext cx="3794760" cy="2514600"/>
          </a:xfrm>
          <a:prstGeom prst="roundRect">
            <a:avLst>
              <a:gd name="adj" fmla="val 5818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bg1">
                <a:alpha val="14000"/>
              </a:schemeClr>
            </a:solidFill>
            <a:prstDash val="solid"/>
          </a:ln>
        </p:spPr>
      </p:sp>
      <p:sp>
        <p:nvSpPr>
          <p:cNvPr id="12" name="La oportunidad · círculo"/>
          <p:cNvSpPr/>
          <p:nvPr/>
        </p:nvSpPr>
        <p:spPr>
          <a:xfrm>
            <a:off x="5093208" y="2075688"/>
            <a:ext cx="457200" cy="45720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13" name="La oportunidad ·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194560"/>
            <a:ext cx="219456" cy="219456"/>
          </a:xfrm>
          <a:prstGeom prst="rect">
            <a:avLst/>
          </a:prstGeom>
        </p:spPr>
      </p:pic>
      <p:sp>
        <p:nvSpPr>
          <p:cNvPr id="14" name="La oportunidad · etiqueta"/>
          <p:cNvSpPr txBox="1"/>
          <p:nvPr/>
        </p:nvSpPr>
        <p:spPr>
          <a:xfrm>
            <a:off x="5696712" y="2075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/>
                </a:solidFill>
              </a:rPr>
              <a:t>LA OPORTUNIDAD</a:t>
            </a:r>
            <a:endParaRPr lang="en-US" sz="900" dirty="0"/>
          </a:p>
        </p:txBody>
      </p:sp>
      <p:sp>
        <p:nvSpPr>
          <p:cNvPr id="15" name="La oportunidad · idea"/>
          <p:cNvSpPr txBox="1"/>
          <p:nvPr/>
        </p:nvSpPr>
        <p:spPr>
          <a:xfrm>
            <a:off x="5093208" y="2743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bg1"/>
                </a:solidFill>
              </a:rPr>
              <a:t>Un público que valora la fidelidad, el orden y una interfaz que se retira.</a:t>
            </a:r>
            <a:endParaRPr lang="en-US" sz="1500" dirty="0"/>
          </a:p>
        </p:txBody>
      </p:sp>
      <p:sp>
        <p:nvSpPr>
          <p:cNvPr id="16" name="La oportunidad · detalle"/>
          <p:cNvSpPr txBox="1"/>
          <p:nvPr/>
        </p:nvSpPr>
        <p:spPr>
          <a:xfrm>
            <a:off x="5093208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Crafted for enthusiasts: personas que buscan su frecuencia sin distracciones innecesarias.</a:t>
            </a:r>
            <a:endParaRPr lang="en-US" sz="1150" dirty="0"/>
          </a:p>
        </p:txBody>
      </p:sp>
      <p:sp>
        <p:nvSpPr>
          <p:cNvPr id="17" name="Transición · círculo"/>
          <p:cNvSpPr/>
          <p:nvPr/>
        </p:nvSpPr>
        <p:spPr>
          <a:xfrm>
            <a:off x="4366260" y="2834640"/>
            <a:ext cx="411480" cy="41148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alpha val="25000"/>
              </a:schemeClr>
            </a:solidFill>
            <a:prstDash val="solid"/>
          </a:ln>
        </p:spPr>
      </p:sp>
      <p:pic>
        <p:nvPicPr>
          <p:cNvPr id="18" name="Transición · flecha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2935224"/>
            <a:ext cx="210312" cy="2103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e fondo"/>
          <p:cNvSpPr txBox="1"/>
          <p:nvPr/>
        </p:nvSpPr>
        <p:spPr>
          <a:xfrm>
            <a:off x="5120640" y="2788920"/>
            <a:ext cx="3931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5000" kern="0" spc="-600" dirty="0">
                <a:solidFill>
                  <a:schemeClr val="bg1">
                    <a:alpha val="35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6035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chemeClr val="accent6"/>
                </a:solidFill>
              </a:rPr>
              <a:t>04  </a:t>
            </a:r>
            <a:r>
              <a:rPr lang="en-US" sz="850" b="1" kern="0" spc="300" dirty="0">
                <a:solidFill>
                  <a:schemeClr val="accent1"/>
                </a:solidFill>
              </a:rPr>
              <a:t>—  PRINCIPIOS</a:t>
            </a:r>
            <a:endParaRPr lang="en-US" sz="85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89611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kern="0" spc="-60" dirty="0">
                <a:solidFill>
                  <a:schemeClr val="bg1"/>
                </a:solidFill>
              </a:rPr>
              <a:t>Señal</a:t>
            </a:r>
            <a:r>
              <a:rPr lang="en-US" sz="2800" kern="0" spc="-60" dirty="0">
                <a:solidFill>
                  <a:schemeClr val="accent1"/>
                </a:solidFill>
              </a:rPr>
              <a:t> · </a:t>
            </a:r>
            <a:r>
              <a:rPr lang="en-US" sz="2800" kern="0" spc="-60" dirty="0">
                <a:solidFill>
                  <a:schemeClr val="bg1"/>
                </a:solidFill>
              </a:rPr>
              <a:t>Fuente</a:t>
            </a:r>
            <a:r>
              <a:rPr lang="en-US" sz="2800" kern="0" spc="-60" dirty="0">
                <a:solidFill>
                  <a:schemeClr val="accent1"/>
                </a:solidFill>
              </a:rPr>
              <a:t> · </a:t>
            </a:r>
            <a:r>
              <a:rPr lang="en-US" sz="2800" kern="0" spc="-60" dirty="0">
                <a:solidFill>
                  <a:schemeClr val="bg1"/>
                </a:solidFill>
              </a:rPr>
              <a:t>Flujo</a:t>
            </a:r>
            <a:endParaRPr lang="en-US" sz="2800" dirty="0"/>
          </a:p>
        </p:txBody>
      </p:sp>
      <p:sp>
        <p:nvSpPr>
          <p:cNvPr id="5" name="Principio · Señal"/>
          <p:cNvSpPr/>
          <p:nvPr/>
        </p:nvSpPr>
        <p:spPr>
          <a:xfrm>
            <a:off x="548640" y="1783080"/>
            <a:ext cx="2560320" cy="2606040"/>
          </a:xfrm>
          <a:prstGeom prst="roundRect">
            <a:avLst>
              <a:gd name="adj" fmla="val 5714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bg1">
                <a:alpha val="14000"/>
              </a:schemeClr>
            </a:solidFill>
            <a:prstDash val="solid"/>
          </a:ln>
        </p:spPr>
      </p:sp>
      <p:sp>
        <p:nvSpPr>
          <p:cNvPr id="6" name="Señal · círculo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7" name="Señal ·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76272"/>
            <a:ext cx="219456" cy="219456"/>
          </a:xfrm>
          <a:prstGeom prst="rect">
            <a:avLst/>
          </a:prstGeom>
        </p:spPr>
      </p:pic>
      <p:sp>
        <p:nvSpPr>
          <p:cNvPr id="8" name="Señal · número"/>
          <p:cNvSpPr txBox="1"/>
          <p:nvPr/>
        </p:nvSpPr>
        <p:spPr>
          <a:xfrm>
            <a:off x="23774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6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Señal · título"/>
          <p:cNvSpPr txBox="1"/>
          <p:nvPr/>
        </p:nvSpPr>
        <p:spPr>
          <a:xfrm>
            <a:off x="8229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Señal</a:t>
            </a:r>
            <a:endParaRPr lang="en-US" sz="2000" dirty="0"/>
          </a:p>
        </p:txBody>
      </p:sp>
      <p:sp>
        <p:nvSpPr>
          <p:cNvPr id="10" name="Señal · texto"/>
          <p:cNvSpPr txBox="1"/>
          <p:nvPr/>
        </p:nvSpPr>
        <p:spPr>
          <a:xfrm>
            <a:off x="822960" y="31546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El cian solo aparece donde hay acción o sonido. Un piloto de precisión que guía sin deslumbrar.</a:t>
            </a:r>
            <a:endParaRPr lang="en-US" sz="1150" dirty="0"/>
          </a:p>
        </p:txBody>
      </p:sp>
      <p:sp>
        <p:nvSpPr>
          <p:cNvPr id="11" name="Principio · Fuente"/>
          <p:cNvSpPr/>
          <p:nvPr/>
        </p:nvSpPr>
        <p:spPr>
          <a:xfrm>
            <a:off x="3291840" y="1783080"/>
            <a:ext cx="2560320" cy="2606040"/>
          </a:xfrm>
          <a:prstGeom prst="roundRect">
            <a:avLst>
              <a:gd name="adj" fmla="val 5714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bg1">
                <a:alpha val="14000"/>
              </a:schemeClr>
            </a:solidFill>
            <a:prstDash val="solid"/>
          </a:ln>
        </p:spPr>
      </p:sp>
      <p:sp>
        <p:nvSpPr>
          <p:cNvPr id="12" name="Fuente · círculo"/>
          <p:cNvSpPr/>
          <p:nvPr/>
        </p:nvSpPr>
        <p:spPr>
          <a:xfrm>
            <a:off x="3566160" y="2057400"/>
            <a:ext cx="457200" cy="45720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13" name="Fuente ·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176272"/>
            <a:ext cx="219456" cy="219456"/>
          </a:xfrm>
          <a:prstGeom prst="rect">
            <a:avLst/>
          </a:prstGeom>
        </p:spPr>
      </p:pic>
      <p:sp>
        <p:nvSpPr>
          <p:cNvPr id="14" name="Fuente · número"/>
          <p:cNvSpPr txBox="1"/>
          <p:nvPr/>
        </p:nvSpPr>
        <p:spPr>
          <a:xfrm>
            <a:off x="51206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6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Fuente · título"/>
          <p:cNvSpPr txBox="1"/>
          <p:nvPr/>
        </p:nvSpPr>
        <p:spPr>
          <a:xfrm>
            <a:off x="35661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Fuente</a:t>
            </a:r>
            <a:endParaRPr lang="en-US" sz="2000" dirty="0"/>
          </a:p>
        </p:txBody>
      </p:sp>
      <p:sp>
        <p:nvSpPr>
          <p:cNvPr id="16" name="Fuente · texto"/>
          <p:cNvSpPr txBox="1"/>
          <p:nvPr/>
        </p:nvSpPr>
        <p:spPr>
          <a:xfrm>
            <a:off x="3566160" y="31546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El punto (◉) como origen del sonido. La pureza del altavoz y el estudio a oscuras donde nace la música.</a:t>
            </a:r>
            <a:endParaRPr lang="en-US" sz="1150" dirty="0"/>
          </a:p>
        </p:txBody>
      </p:sp>
      <p:sp>
        <p:nvSpPr>
          <p:cNvPr id="17" name="Principio · Flujo"/>
          <p:cNvSpPr/>
          <p:nvPr/>
        </p:nvSpPr>
        <p:spPr>
          <a:xfrm>
            <a:off x="6035040" y="1783080"/>
            <a:ext cx="2560320" cy="2606040"/>
          </a:xfrm>
          <a:prstGeom prst="roundRect">
            <a:avLst>
              <a:gd name="adj" fmla="val 5714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bg1">
                <a:alpha val="14000"/>
              </a:schemeClr>
            </a:solidFill>
            <a:prstDash val="solid"/>
          </a:ln>
        </p:spPr>
      </p:sp>
      <p:sp>
        <p:nvSpPr>
          <p:cNvPr id="18" name="Flujo · círculo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19" name="Flujo ·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176272"/>
            <a:ext cx="219456" cy="219456"/>
          </a:xfrm>
          <a:prstGeom prst="rect">
            <a:avLst/>
          </a:prstGeom>
        </p:spPr>
      </p:pic>
      <p:sp>
        <p:nvSpPr>
          <p:cNvPr id="20" name="Flujo · número"/>
          <p:cNvSpPr txBox="1"/>
          <p:nvPr/>
        </p:nvSpPr>
        <p:spPr>
          <a:xfrm>
            <a:off x="78638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6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Flujo · título"/>
          <p:cNvSpPr txBox="1"/>
          <p:nvPr/>
        </p:nvSpPr>
        <p:spPr>
          <a:xfrm>
            <a:off x="63093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Flujo</a:t>
            </a:r>
            <a:endParaRPr lang="en-US" sz="2000" dirty="0"/>
          </a:p>
        </p:txBody>
      </p:sp>
      <p:sp>
        <p:nvSpPr>
          <p:cNvPr id="22" name="Flujo · texto"/>
          <p:cNvSpPr txBox="1"/>
          <p:nvPr/>
        </p:nvSpPr>
        <p:spPr>
          <a:xfrm>
            <a:off x="6309360" y="31546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Transiciones continuas y mini-player persistente. Nada interrumpe la conexión entre el usuario y su audio.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6035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chemeClr val="accent6"/>
                </a:solidFill>
              </a:rPr>
              <a:t>05  </a:t>
            </a:r>
            <a:r>
              <a:rPr lang="en-US" sz="850" b="1" kern="0" spc="300" dirty="0">
                <a:solidFill>
                  <a:schemeClr val="accent4"/>
                </a:solidFill>
              </a:rPr>
              <a:t>—  LA EXPERIENCIA</a:t>
            </a:r>
            <a:endParaRPr lang="en-US" sz="85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89611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kern="0" spc="-60" dirty="0">
                <a:solidFill>
                  <a:schemeClr val="bg1"/>
                </a:solidFill>
              </a:rPr>
              <a:t>Una experiencia </a:t>
            </a:r>
            <a:r>
              <a:rPr lang="en-US" sz="2800" kern="0" spc="-60" dirty="0">
                <a:solidFill>
                  <a:schemeClr val="accent4"/>
                </a:solidFill>
              </a:rPr>
              <a:t>que se retira</a:t>
            </a:r>
            <a:endParaRPr lang="en-US" sz="2800" dirty="0"/>
          </a:p>
        </p:txBody>
      </p:sp>
      <p:sp>
        <p:nvSpPr>
          <p:cNvPr id="4" name="Descubrir · punto"/>
          <p:cNvSpPr/>
          <p:nvPr/>
        </p:nvSpPr>
        <p:spPr>
          <a:xfrm>
            <a:off x="566928" y="1938528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Descubrir · título"/>
          <p:cNvSpPr txBox="1"/>
          <p:nvPr/>
        </p:nvSpPr>
        <p:spPr>
          <a:xfrm>
            <a:off x="868680" y="18562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Descubrir</a:t>
            </a:r>
            <a:r>
              <a:rPr lang="en-US" sz="800" b="1" kern="0" spc="200" dirty="0">
                <a:solidFill>
                  <a:schemeClr val="accent4"/>
                </a:solidFill>
              </a:rPr>
              <a:t>   HOME</a:t>
            </a:r>
            <a:endParaRPr lang="en-US" sz="1500" dirty="0"/>
          </a:p>
        </p:txBody>
      </p:sp>
      <p:sp>
        <p:nvSpPr>
          <p:cNvPr id="6" name="Descubrir · texto"/>
          <p:cNvSpPr txBox="1"/>
          <p:nvPr/>
        </p:nvSpPr>
        <p:spPr>
          <a:xfrm>
            <a:off x="868680" y="2167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Selección curada sin fricción visual.</a:t>
            </a:r>
            <a:endParaRPr lang="en-US" sz="1200" dirty="0"/>
          </a:p>
        </p:txBody>
      </p:sp>
      <p:sp>
        <p:nvSpPr>
          <p:cNvPr id="7" name="Conector 1"/>
          <p:cNvSpPr/>
          <p:nvPr/>
        </p:nvSpPr>
        <p:spPr>
          <a:xfrm>
            <a:off x="630936" y="2148840"/>
            <a:ext cx="0" cy="621792"/>
          </a:xfrm>
          <a:prstGeom prst="line">
            <a:avLst/>
          </a:prstGeom>
          <a:noFill/>
          <a:ln w="9525">
            <a:solidFill>
              <a:schemeClr val="bg1">
                <a:alpha val="20000"/>
              </a:schemeClr>
            </a:solidFill>
            <a:prstDash val="dash"/>
          </a:ln>
        </p:spPr>
      </p:sp>
      <p:sp>
        <p:nvSpPr>
          <p:cNvPr id="8" name="Escuchar · punto"/>
          <p:cNvSpPr/>
          <p:nvPr/>
        </p:nvSpPr>
        <p:spPr>
          <a:xfrm>
            <a:off x="566928" y="2834640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Escuchar · título"/>
          <p:cNvSpPr txBox="1"/>
          <p:nvPr/>
        </p:nvSpPr>
        <p:spPr>
          <a:xfrm>
            <a:off x="868680" y="2752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Escuchar</a:t>
            </a:r>
            <a:r>
              <a:rPr lang="en-US" sz="800" b="1" kern="0" spc="200" dirty="0">
                <a:solidFill>
                  <a:schemeClr val="accent3"/>
                </a:solidFill>
              </a:rPr>
              <a:t>   NOW PLAYING</a:t>
            </a:r>
            <a:endParaRPr lang="en-US" sz="1500" dirty="0"/>
          </a:p>
        </p:txBody>
      </p:sp>
      <p:sp>
        <p:nvSpPr>
          <p:cNvPr id="10" name="Escuchar · texto"/>
          <p:cNvSpPr txBox="1"/>
          <p:nvPr/>
        </p:nvSpPr>
        <p:spPr>
          <a:xfrm>
            <a:off x="86868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Inmersión total. Controles mínimos.</a:t>
            </a:r>
            <a:endParaRPr lang="en-US" sz="1200" dirty="0"/>
          </a:p>
        </p:txBody>
      </p:sp>
      <p:sp>
        <p:nvSpPr>
          <p:cNvPr id="11" name="Conector 2"/>
          <p:cNvSpPr/>
          <p:nvPr/>
        </p:nvSpPr>
        <p:spPr>
          <a:xfrm>
            <a:off x="630936" y="3044952"/>
            <a:ext cx="0" cy="621792"/>
          </a:xfrm>
          <a:prstGeom prst="line">
            <a:avLst/>
          </a:prstGeom>
          <a:noFill/>
          <a:ln w="9525">
            <a:solidFill>
              <a:schemeClr val="bg1">
                <a:alpha val="20000"/>
              </a:schemeClr>
            </a:solidFill>
            <a:prstDash val="dash"/>
          </a:ln>
        </p:spPr>
      </p:sp>
      <p:sp>
        <p:nvSpPr>
          <p:cNvPr id="12" name="Volver · punto"/>
          <p:cNvSpPr/>
          <p:nvPr/>
        </p:nvSpPr>
        <p:spPr>
          <a:xfrm>
            <a:off x="566928" y="373075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Volver · título"/>
          <p:cNvSpPr txBox="1"/>
          <p:nvPr/>
        </p:nvSpPr>
        <p:spPr>
          <a:xfrm>
            <a:off x="868680" y="36484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Volver</a:t>
            </a:r>
            <a:r>
              <a:rPr lang="en-US" sz="800" b="1" kern="0" spc="200" dirty="0">
                <a:solidFill>
                  <a:schemeClr val="accent2"/>
                </a:solidFill>
              </a:rPr>
              <a:t>   LIBRARY</a:t>
            </a:r>
            <a:endParaRPr lang="en-US" sz="1500" dirty="0"/>
          </a:p>
        </p:txBody>
      </p:sp>
      <p:sp>
        <p:nvSpPr>
          <p:cNvPr id="14" name="Volver · texto"/>
          <p:cNvSpPr txBox="1"/>
          <p:nvPr/>
        </p:nvSpPr>
        <p:spPr>
          <a:xfrm>
            <a:off x="868680" y="39593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Continuidad absoluta en cada sesión.</a:t>
            </a:r>
            <a:endParaRPr lang="en-US" sz="1200" dirty="0"/>
          </a:p>
        </p:txBody>
      </p:sp>
      <p:pic>
        <p:nvPicPr>
          <p:cNvPr id="15" name="Pantalla Home: descubrir" descr="Pantalla Home: descubri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600200"/>
            <a:ext cx="1647843" cy="2971800"/>
          </a:xfrm>
          <a:prstGeom prst="rect">
            <a:avLst/>
          </a:prstGeom>
        </p:spPr>
      </p:pic>
      <p:pic>
        <p:nvPicPr>
          <p:cNvPr id="16" name="Pantalla Now Playing: escuchar" descr="Pantalla Now Playing: escuch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776" y="1417320"/>
            <a:ext cx="1647843" cy="2971800"/>
          </a:xfrm>
          <a:prstGeom prst="rect">
            <a:avLst/>
          </a:prstGeom>
        </p:spPr>
      </p:pic>
      <p:pic>
        <p:nvPicPr>
          <p:cNvPr id="17" name="Pantalla Library: volver" descr="Pantalla Library: volv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792" y="1600200"/>
            <a:ext cx="1647843" cy="2971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e fondo"/>
          <p:cNvSpPr txBox="1"/>
          <p:nvPr/>
        </p:nvSpPr>
        <p:spPr>
          <a:xfrm>
            <a:off x="5120640" y="2788920"/>
            <a:ext cx="3931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5000" kern="0" spc="-600" dirty="0">
                <a:solidFill>
                  <a:schemeClr val="bg1">
                    <a:alpha val="35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6035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chemeClr val="accent6"/>
                </a:solidFill>
              </a:rPr>
              <a:t>06  </a:t>
            </a:r>
            <a:r>
              <a:rPr lang="en-US" sz="850" b="1" kern="0" spc="300" dirty="0">
                <a:solidFill>
                  <a:schemeClr val="accent2"/>
                </a:solidFill>
              </a:rPr>
              <a:t>—  DISEÑO DE INTERFAZ</a:t>
            </a:r>
            <a:endParaRPr lang="en-US" sz="85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89611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kern="0" spc="-60" dirty="0">
                <a:solidFill>
                  <a:schemeClr val="bg1"/>
                </a:solidFill>
              </a:rPr>
              <a:t>Diseñada para </a:t>
            </a:r>
            <a:r>
              <a:rPr lang="en-US" sz="2800" kern="0" spc="-60" dirty="0">
                <a:solidFill>
                  <a:schemeClr val="accent2"/>
                </a:solidFill>
              </a:rPr>
              <a:t>escuchar de verdad</a:t>
            </a:r>
            <a:endParaRPr lang="en-US" sz="2800" dirty="0"/>
          </a:p>
        </p:txBody>
      </p:sp>
      <p:sp>
        <p:nvSpPr>
          <p:cNvPr id="5" name="Jerarquía crítica · círculo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9525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6" name="Jerarquía crítica ·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993392"/>
            <a:ext cx="219456" cy="219456"/>
          </a:xfrm>
          <a:prstGeom prst="rect">
            <a:avLst/>
          </a:prstGeom>
        </p:spPr>
      </p:pic>
      <p:sp>
        <p:nvSpPr>
          <p:cNvPr id="7" name="Jerarquía crítica · título"/>
          <p:cNvSpPr txBox="1"/>
          <p:nvPr/>
        </p:nvSpPr>
        <p:spPr>
          <a:xfrm>
            <a:off x="1188720" y="1865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Jerarquía crítica</a:t>
            </a:r>
            <a:endParaRPr lang="en-US" sz="1500" dirty="0"/>
          </a:p>
        </p:txBody>
      </p:sp>
      <p:sp>
        <p:nvSpPr>
          <p:cNvPr id="8" name="Jerarquía crítica · texto"/>
          <p:cNvSpPr txBox="1"/>
          <p:nvPr/>
        </p:nvSpPr>
        <p:spPr>
          <a:xfrm>
            <a:off x="118872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La música ocupa el 80% de la superficie visual.</a:t>
            </a:r>
            <a:endParaRPr lang="en-US" sz="1200" dirty="0"/>
          </a:p>
        </p:txBody>
      </p:sp>
      <p:sp>
        <p:nvSpPr>
          <p:cNvPr id="9" name="Cian funcional · círculo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10" name="Cian funcional ·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862072"/>
            <a:ext cx="219456" cy="219456"/>
          </a:xfrm>
          <a:prstGeom prst="rect">
            <a:avLst/>
          </a:prstGeom>
        </p:spPr>
      </p:pic>
      <p:sp>
        <p:nvSpPr>
          <p:cNvPr id="11" name="Cian funcional · título"/>
          <p:cNvSpPr txBox="1"/>
          <p:nvPr/>
        </p:nvSpPr>
        <p:spPr>
          <a:xfrm>
            <a:off x="1188720" y="2734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Cian funcional</a:t>
            </a:r>
            <a:endParaRPr lang="en-US" sz="1500" dirty="0"/>
          </a:p>
        </p:txBody>
      </p:sp>
      <p:sp>
        <p:nvSpPr>
          <p:cNvPr id="12" name="Cian funcional · texto"/>
          <p:cNvSpPr txBox="1"/>
          <p:nvPr/>
        </p:nvSpPr>
        <p:spPr>
          <a:xfrm>
            <a:off x="118872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Reserva del color para interacción y estado activo.</a:t>
            </a:r>
            <a:endParaRPr lang="en-US" sz="1200" dirty="0"/>
          </a:p>
        </p:txBody>
      </p:sp>
      <p:sp>
        <p:nvSpPr>
          <p:cNvPr id="13" name="Estudio oscuro · círculo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chemeClr val="accent2">
              <a:alpha val="18000"/>
            </a:schemeClr>
          </a:solidFill>
          <a:ln w="9525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4" name="Estudio oscuro ·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730752"/>
            <a:ext cx="219456" cy="219456"/>
          </a:xfrm>
          <a:prstGeom prst="rect">
            <a:avLst/>
          </a:prstGeom>
        </p:spPr>
      </p:pic>
      <p:sp>
        <p:nvSpPr>
          <p:cNvPr id="15" name="Estudio oscuro · título"/>
          <p:cNvSpPr txBox="1"/>
          <p:nvPr/>
        </p:nvSpPr>
        <p:spPr>
          <a:xfrm>
            <a:off x="1188720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Estudio oscuro</a:t>
            </a:r>
            <a:endParaRPr lang="en-US" sz="1500" dirty="0"/>
          </a:p>
        </p:txBody>
      </p:sp>
      <p:sp>
        <p:nvSpPr>
          <p:cNvPr id="16" name="Estudio oscuro · texto"/>
          <p:cNvSpPr txBox="1"/>
          <p:nvPr/>
        </p:nvSpPr>
        <p:spPr>
          <a:xfrm>
            <a:off x="1188720" y="3886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Fondos negros profundos para inmersión OLED total.</a:t>
            </a:r>
            <a:endParaRPr lang="en-US" sz="1200" dirty="0"/>
          </a:p>
        </p:txBody>
      </p:sp>
      <p:pic>
        <p:nvPicPr>
          <p:cNvPr id="17" name="Pantalla Now Playing" descr="Pantalla Now Play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1325880"/>
            <a:ext cx="2002763" cy="3611880"/>
          </a:xfrm>
          <a:prstGeom prst="rect">
            <a:avLst/>
          </a:prstGeom>
        </p:spPr>
      </p:pic>
      <p:sp>
        <p:nvSpPr>
          <p:cNvPr id="18" name="Dato · 80%"/>
          <p:cNvSpPr txBox="1"/>
          <p:nvPr/>
        </p:nvSpPr>
        <p:spPr>
          <a:xfrm>
            <a:off x="6537960" y="2148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kern="0" spc="-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80%</a:t>
            </a:r>
            <a:endParaRPr lang="en-US" sz="6000" dirty="0"/>
          </a:p>
        </p:txBody>
      </p:sp>
      <p:sp>
        <p:nvSpPr>
          <p:cNvPr id="19" name="Dato · texto"/>
          <p:cNvSpPr txBox="1"/>
          <p:nvPr/>
        </p:nvSpPr>
        <p:spPr>
          <a:xfrm>
            <a:off x="6565392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accent6"/>
                </a:solidFill>
              </a:rPr>
              <a:t>de la superficie visual es música.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6035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chemeClr val="accent6"/>
                </a:solidFill>
              </a:rPr>
              <a:t>07  </a:t>
            </a:r>
            <a:r>
              <a:rPr lang="en-US" sz="850" b="1" kern="0" spc="300" dirty="0">
                <a:solidFill>
                  <a:schemeClr val="accent4"/>
                </a:solidFill>
              </a:rPr>
              <a:t>—  FREE Y PREMIUM</a:t>
            </a:r>
            <a:endParaRPr lang="en-US" sz="85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89611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kern="0" spc="-60" dirty="0">
                <a:solidFill>
                  <a:schemeClr val="bg1"/>
                </a:solidFill>
              </a:rPr>
              <a:t>El valor se siente </a:t>
            </a:r>
            <a:r>
              <a:rPr lang="en-US" sz="2800" kern="0" spc="-60" dirty="0">
                <a:solidFill>
                  <a:schemeClr val="accent4"/>
                </a:solidFill>
              </a:rPr>
              <a:t>antes de explicarse</a:t>
            </a:r>
            <a:endParaRPr lang="en-US" sz="2800" dirty="0"/>
          </a:p>
        </p:txBody>
      </p:sp>
      <p:sp>
        <p:nvSpPr>
          <p:cNvPr id="4" name="Comparativa · fondo"/>
          <p:cNvSpPr/>
          <p:nvPr/>
        </p:nvSpPr>
        <p:spPr>
          <a:xfrm>
            <a:off x="548640" y="1691640"/>
            <a:ext cx="8046720" cy="2852928"/>
          </a:xfrm>
          <a:prstGeom prst="roundRect">
            <a:avLst>
              <a:gd name="adj" fmla="val 5128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bg1">
                <a:alpha val="14000"/>
              </a:schemeClr>
            </a:solidFill>
            <a:prstDash val="solid"/>
          </a:ln>
        </p:spPr>
      </p:sp>
      <p:sp>
        <p:nvSpPr>
          <p:cNvPr id="5" name="Comparativa · columna Premium"/>
          <p:cNvSpPr/>
          <p:nvPr/>
        </p:nvSpPr>
        <p:spPr>
          <a:xfrm>
            <a:off x="5806440" y="1783080"/>
            <a:ext cx="2670048" cy="2670048"/>
          </a:xfrm>
          <a:prstGeom prst="roundRect">
            <a:avLst>
              <a:gd name="adj" fmla="val 4795"/>
            </a:avLst>
          </a:prstGeom>
          <a:solidFill>
            <a:srgbClr val="0C1620"/>
          </a:solidFill>
          <a:ln w="15875">
            <a:solidFill>
              <a:schemeClr val="accent1"/>
            </a:solidFill>
            <a:prstDash val="solid"/>
          </a:ln>
          <a:effectLst>
            <a:outerShdw blurRad="304800" dist="50800" dir="16200000" algn="bl" rotWithShape="0">
              <a:srgbClr val="38BDF8">
                <a:alpha val="35000"/>
              </a:srgbClr>
            </a:outerShdw>
          </a:effectLst>
        </p:spPr>
      </p:sp>
      <p:graphicFrame>
        <p:nvGraphicFramePr>
          <p:cNvPr id="8" name="Comparativa ·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kern="0" spc="300" dirty="0">
                          <a:solidFill>
                            <a:srgbClr val="9AA9B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CARACTERÍSTICA</a:t>
                      </a:r>
                      <a:endParaRPr lang="en-US" sz="8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kern="0" spc="300" dirty="0">
                          <a:solidFill>
                            <a:srgbClr val="9AA9B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SONICFLOW FREE</a:t>
                      </a:r>
                      <a:endParaRPr lang="en-US" sz="8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kern="0" spc="300" dirty="0">
                          <a:solidFill>
                            <a:srgbClr val="38BDF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SONICFLOW PREMIUM</a:t>
                      </a:r>
                      <a:endParaRPr lang="en-US" sz="8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A9B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Calidad de audio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A9B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Estándar (160 kbps)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3F6F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Lossless (Hi-Res Audio)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A9B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Continuidad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A9B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Con interrupciones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3F6F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Flujo sin publicidad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A9B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Modo offline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A9B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—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7B99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✓  </a:t>
                      </a:r>
                      <a:r>
                        <a:rPr lang="en-US" sz="1200" b="1" dirty="0">
                          <a:solidFill>
                            <a:srgbClr val="F3F6F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Descargas ilimitadas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A9B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Personalización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A9B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Básica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7B99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✓  </a:t>
                      </a:r>
                      <a:r>
                        <a:rPr lang="en-US" sz="1200" b="1" dirty="0">
                          <a:solidFill>
                            <a:srgbClr val="F3F6F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Perfiles EQ dinámicos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6035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chemeClr val="accent6"/>
                </a:solidFill>
              </a:rPr>
              <a:t>08  </a:t>
            </a:r>
            <a:r>
              <a:rPr lang="en-US" sz="850" b="1" kern="0" spc="300" dirty="0">
                <a:solidFill>
                  <a:schemeClr val="accent3"/>
                </a:solidFill>
              </a:rPr>
              <a:t>—  SISTEMA DE DISEÑO</a:t>
            </a:r>
            <a:endParaRPr lang="en-US" sz="85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89611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kern="0" spc="-60" dirty="0">
                <a:solidFill>
                  <a:schemeClr val="bg1"/>
                </a:solidFill>
              </a:rPr>
              <a:t>Un sistema </a:t>
            </a:r>
            <a:r>
              <a:rPr lang="en-US" sz="2800" kern="0" spc="-60" dirty="0">
                <a:solidFill>
                  <a:schemeClr val="accent3"/>
                </a:solidFill>
              </a:rPr>
              <a:t>reconocible</a:t>
            </a:r>
            <a:endParaRPr lang="en-US" sz="2800" dirty="0"/>
          </a:p>
        </p:txBody>
      </p:sp>
      <p:sp>
        <p:nvSpPr>
          <p:cNvPr id="4" name="Color · Cian Sonic"/>
          <p:cNvSpPr/>
          <p:nvPr/>
        </p:nvSpPr>
        <p:spPr>
          <a:xfrm>
            <a:off x="548640" y="1691640"/>
            <a:ext cx="2834640" cy="960120"/>
          </a:xfrm>
          <a:prstGeom prst="roundRect">
            <a:avLst>
              <a:gd name="adj" fmla="val 13333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Color · Cian Sonic · texto"/>
          <p:cNvSpPr txBox="1"/>
          <p:nvPr/>
        </p:nvSpPr>
        <p:spPr>
          <a:xfrm>
            <a:off x="685800" y="20116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5070B"/>
                </a:solidFill>
              </a:rPr>
              <a:t>Cian Sonic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05070B"/>
                </a:solidFill>
              </a:rPr>
              <a:t>#38BDF8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05070B"/>
                </a:solidFill>
              </a:rPr>
              <a:t>Interacción y estado activo</a:t>
            </a:r>
            <a:endParaRPr lang="en-US" sz="1100" dirty="0"/>
          </a:p>
        </p:txBody>
      </p:sp>
      <p:sp>
        <p:nvSpPr>
          <p:cNvPr id="6" name="Color · Negro Estudio"/>
          <p:cNvSpPr/>
          <p:nvPr/>
        </p:nvSpPr>
        <p:spPr>
          <a:xfrm>
            <a:off x="3474720" y="1691640"/>
            <a:ext cx="1645920" cy="960120"/>
          </a:xfrm>
          <a:prstGeom prst="roundRect">
            <a:avLst>
              <a:gd name="adj" fmla="val 13333"/>
            </a:avLst>
          </a:prstGeom>
          <a:solidFill>
            <a:srgbClr val="07090E"/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Color · Negro Estudio · texto"/>
          <p:cNvSpPr txBox="1"/>
          <p:nvPr/>
        </p:nvSpPr>
        <p:spPr>
          <a:xfrm>
            <a:off x="3611880" y="20116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3F6FA"/>
                </a:solidFill>
              </a:rPr>
              <a:t>Negro Estudio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F3F6FA"/>
                </a:solidFill>
              </a:rPr>
              <a:t>#07090E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F3F6FA"/>
                </a:solidFill>
              </a:rPr>
              <a:t>Fondos para OLED</a:t>
            </a:r>
            <a:endParaRPr lang="en-US" sz="1100" dirty="0"/>
          </a:p>
        </p:txBody>
      </p:sp>
      <p:sp>
        <p:nvSpPr>
          <p:cNvPr id="8" name="Color · Blanco"/>
          <p:cNvSpPr/>
          <p:nvPr/>
        </p:nvSpPr>
        <p:spPr>
          <a:xfrm>
            <a:off x="5212080" y="1691640"/>
            <a:ext cx="16459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Color · Blanco · texto"/>
          <p:cNvSpPr txBox="1"/>
          <p:nvPr/>
        </p:nvSpPr>
        <p:spPr>
          <a:xfrm>
            <a:off x="5349240" y="20116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5070B"/>
                </a:solidFill>
              </a:rPr>
              <a:t>Blanco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05070B"/>
                </a:solidFill>
              </a:rPr>
              <a:t>#FFFFFF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05070B"/>
                </a:solidFill>
              </a:rPr>
              <a:t>Texto principal</a:t>
            </a:r>
            <a:endParaRPr lang="en-US" sz="1100" dirty="0"/>
          </a:p>
        </p:txBody>
      </p:sp>
      <p:sp>
        <p:nvSpPr>
          <p:cNvPr id="10" name="Color · Pizarra"/>
          <p:cNvSpPr/>
          <p:nvPr/>
        </p:nvSpPr>
        <p:spPr>
          <a:xfrm>
            <a:off x="6949440" y="1691640"/>
            <a:ext cx="1645920" cy="960120"/>
          </a:xfrm>
          <a:prstGeom prst="roundRect">
            <a:avLst>
              <a:gd name="adj" fmla="val 13333"/>
            </a:avLst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Color · Pizarra · texto"/>
          <p:cNvSpPr txBox="1"/>
          <p:nvPr/>
        </p:nvSpPr>
        <p:spPr>
          <a:xfrm>
            <a:off x="7086600" y="20116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5070B"/>
                </a:solidFill>
              </a:rPr>
              <a:t>Pizarra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05070B"/>
                </a:solidFill>
              </a:rPr>
              <a:t>#8B949E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05070B"/>
                </a:solidFill>
              </a:rPr>
              <a:t>Texto secundario</a:t>
            </a:r>
            <a:endParaRPr lang="en-US" sz="1100" dirty="0"/>
          </a:p>
        </p:txBody>
      </p:sp>
      <p:sp>
        <p:nvSpPr>
          <p:cNvPr id="12" name="Tipografía"/>
          <p:cNvSpPr/>
          <p:nvPr/>
        </p:nvSpPr>
        <p:spPr>
          <a:xfrm>
            <a:off x="548640" y="2788920"/>
            <a:ext cx="3291840" cy="1783080"/>
          </a:xfrm>
          <a:prstGeom prst="roundRect">
            <a:avLst>
              <a:gd name="adj" fmla="val 8205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bg1">
                <a:alpha val="14000"/>
              </a:schemeClr>
            </a:solidFill>
            <a:prstDash val="solid"/>
          </a:ln>
        </p:spPr>
      </p:sp>
      <p:sp>
        <p:nvSpPr>
          <p:cNvPr id="13" name="Tipografía · etiqueta"/>
          <p:cNvSpPr txBox="1"/>
          <p:nvPr/>
        </p:nvSpPr>
        <p:spPr>
          <a:xfrm>
            <a:off x="777240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accent6"/>
                </a:solidFill>
              </a:rPr>
              <a:t>TIPOGRAFÍA</a:t>
            </a:r>
            <a:endParaRPr lang="en-US" sz="800" dirty="0"/>
          </a:p>
        </p:txBody>
      </p:sp>
      <p:sp>
        <p:nvSpPr>
          <p:cNvPr id="14" name="Tipografía · muestra"/>
          <p:cNvSpPr txBox="1"/>
          <p:nvPr/>
        </p:nvSpPr>
        <p:spPr>
          <a:xfrm>
            <a:off x="777240" y="3246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dirty="0">
                <a:solidFill>
                  <a:schemeClr val="bg1"/>
                </a:solidFill>
              </a:rPr>
              <a:t>Aa</a:t>
            </a:r>
            <a:endParaRPr lang="en-US" sz="5400" dirty="0"/>
          </a:p>
        </p:txBody>
      </p:sp>
      <p:sp>
        <p:nvSpPr>
          <p:cNvPr id="15" name="Tipografía · detalle"/>
          <p:cNvSpPr txBox="1"/>
          <p:nvPr/>
        </p:nvSpPr>
        <p:spPr>
          <a:xfrm>
            <a:off x="2103120" y="3310128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Inter</a:t>
            </a:r>
            <a:endParaRPr lang="en-US" sz="15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400 · 600 · 800</a:t>
            </a:r>
            <a:endParaRPr lang="en-US" sz="15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Precisión y legibilidad clínica.</a:t>
            </a:r>
            <a:endParaRPr lang="en-US" sz="1500" dirty="0"/>
          </a:p>
        </p:txBody>
      </p:sp>
      <p:sp>
        <p:nvSpPr>
          <p:cNvPr id="16" name="Movimiento"/>
          <p:cNvSpPr/>
          <p:nvPr/>
        </p:nvSpPr>
        <p:spPr>
          <a:xfrm>
            <a:off x="3977640" y="2788920"/>
            <a:ext cx="2240280" cy="1783080"/>
          </a:xfrm>
          <a:prstGeom prst="roundRect">
            <a:avLst>
              <a:gd name="adj" fmla="val 8205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bg1">
                <a:alpha val="14000"/>
              </a:schemeClr>
            </a:solidFill>
            <a:prstDash val="solid"/>
          </a:ln>
        </p:spPr>
      </p:sp>
      <p:sp>
        <p:nvSpPr>
          <p:cNvPr id="17" name="Movimiento · etiqueta"/>
          <p:cNvSpPr txBox="1"/>
          <p:nvPr/>
        </p:nvSpPr>
        <p:spPr>
          <a:xfrm>
            <a:off x="4206240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accent6"/>
                </a:solidFill>
              </a:rPr>
              <a:t>MOVIMIENTO</a:t>
            </a:r>
            <a:endParaRPr lang="en-US" sz="800" dirty="0"/>
          </a:p>
        </p:txBody>
      </p:sp>
      <p:sp>
        <p:nvSpPr>
          <p:cNvPr id="18" name="Movimiento · duración"/>
          <p:cNvSpPr txBox="1"/>
          <p:nvPr/>
        </p:nvSpPr>
        <p:spPr>
          <a:xfrm>
            <a:off x="420624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120–300 ms</a:t>
            </a:r>
            <a:endParaRPr lang="en-US" sz="2000" dirty="0"/>
          </a:p>
        </p:txBody>
      </p:sp>
      <p:sp>
        <p:nvSpPr>
          <p:cNvPr id="19" name="Movimiento · escala"/>
          <p:cNvSpPr/>
          <p:nvPr/>
        </p:nvSpPr>
        <p:spPr>
          <a:xfrm>
            <a:off x="4206240" y="3840480"/>
            <a:ext cx="1783080" cy="0"/>
          </a:xfrm>
          <a:prstGeom prst="line">
            <a:avLst/>
          </a:prstGeom>
          <a:noFill/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20" name="Movimiento · rango"/>
          <p:cNvSpPr/>
          <p:nvPr/>
        </p:nvSpPr>
        <p:spPr>
          <a:xfrm>
            <a:off x="4741164" y="3840480"/>
            <a:ext cx="802386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21" name="Movimiento · texto"/>
          <p:cNvSpPr txBox="1"/>
          <p:nvPr/>
        </p:nvSpPr>
        <p:spPr>
          <a:xfrm>
            <a:off x="4206240" y="3977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Curvas de salida discretas y rítmicas.</a:t>
            </a:r>
            <a:endParaRPr lang="en-US" sz="1000" dirty="0"/>
          </a:p>
        </p:txBody>
      </p:sp>
      <p:sp>
        <p:nvSpPr>
          <p:cNvPr id="22" name="Tono de voz"/>
          <p:cNvSpPr/>
          <p:nvPr/>
        </p:nvSpPr>
        <p:spPr>
          <a:xfrm>
            <a:off x="6355080" y="2788920"/>
            <a:ext cx="2240280" cy="1783080"/>
          </a:xfrm>
          <a:prstGeom prst="roundRect">
            <a:avLst>
              <a:gd name="adj" fmla="val 8205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bg1">
                <a:alpha val="14000"/>
              </a:schemeClr>
            </a:solidFill>
            <a:prstDash val="solid"/>
          </a:ln>
        </p:spPr>
      </p:sp>
      <p:sp>
        <p:nvSpPr>
          <p:cNvPr id="23" name="Tono · etiqueta"/>
          <p:cNvSpPr txBox="1"/>
          <p:nvPr/>
        </p:nvSpPr>
        <p:spPr>
          <a:xfrm>
            <a:off x="6583680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accent6"/>
                </a:solidFill>
              </a:rPr>
              <a:t>TONO DE VOZ</a:t>
            </a:r>
            <a:endParaRPr lang="en-US" sz="800" dirty="0"/>
          </a:p>
        </p:txBody>
      </p:sp>
      <p:sp>
        <p:nvSpPr>
          <p:cNvPr id="24" name="Tono · lema"/>
          <p:cNvSpPr txBox="1"/>
          <p:nvPr/>
        </p:nvSpPr>
        <p:spPr>
          <a:xfrm>
            <a:off x="6583680" y="32186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“Encuentra tu frecuencia”</a:t>
            </a:r>
            <a:endParaRPr lang="en-US" sz="1400" dirty="0"/>
          </a:p>
        </p:txBody>
      </p:sp>
      <p:sp>
        <p:nvSpPr>
          <p:cNvPr id="25" name="Tono · Preciso"/>
          <p:cNvSpPr/>
          <p:nvPr/>
        </p:nvSpPr>
        <p:spPr>
          <a:xfrm>
            <a:off x="6583680" y="3840480"/>
            <a:ext cx="886968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9525">
            <a:solidFill>
              <a:schemeClr val="bg1">
                <a:alpha val="22000"/>
              </a:schemeClr>
            </a:solidFill>
            <a:prstDash val="solid"/>
          </a:ln>
        </p:spPr>
      </p:sp>
      <p:sp>
        <p:nvSpPr>
          <p:cNvPr id="26" name="Tono · Preciso · texto"/>
          <p:cNvSpPr txBox="1"/>
          <p:nvPr/>
        </p:nvSpPr>
        <p:spPr>
          <a:xfrm>
            <a:off x="6583680" y="3840480"/>
            <a:ext cx="886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</a:rPr>
              <a:t>Preciso</a:t>
            </a:r>
            <a:endParaRPr lang="en-US" sz="850" dirty="0"/>
          </a:p>
        </p:txBody>
      </p:sp>
      <p:sp>
        <p:nvSpPr>
          <p:cNvPr id="27" name="Tono · Inmersivo"/>
          <p:cNvSpPr/>
          <p:nvPr/>
        </p:nvSpPr>
        <p:spPr>
          <a:xfrm>
            <a:off x="7525512" y="3840480"/>
            <a:ext cx="886968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9525">
            <a:solidFill>
              <a:schemeClr val="bg1">
                <a:alpha val="22000"/>
              </a:schemeClr>
            </a:solidFill>
            <a:prstDash val="solid"/>
          </a:ln>
        </p:spPr>
      </p:sp>
      <p:sp>
        <p:nvSpPr>
          <p:cNvPr id="28" name="Tono · Inmersivo · texto"/>
          <p:cNvSpPr txBox="1"/>
          <p:nvPr/>
        </p:nvSpPr>
        <p:spPr>
          <a:xfrm>
            <a:off x="7525512" y="3840480"/>
            <a:ext cx="886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</a:rPr>
              <a:t>Inmersivo</a:t>
            </a:r>
            <a:endParaRPr lang="en-US" sz="850" dirty="0"/>
          </a:p>
        </p:txBody>
      </p:sp>
      <p:sp>
        <p:nvSpPr>
          <p:cNvPr id="29" name="Tono · Sofisticado"/>
          <p:cNvSpPr/>
          <p:nvPr/>
        </p:nvSpPr>
        <p:spPr>
          <a:xfrm>
            <a:off x="6583680" y="4151376"/>
            <a:ext cx="886968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9525">
            <a:solidFill>
              <a:schemeClr val="bg1">
                <a:alpha val="22000"/>
              </a:schemeClr>
            </a:solidFill>
            <a:prstDash val="solid"/>
          </a:ln>
        </p:spPr>
      </p:sp>
      <p:sp>
        <p:nvSpPr>
          <p:cNvPr id="30" name="Tono · Sofisticado · texto"/>
          <p:cNvSpPr txBox="1"/>
          <p:nvPr/>
        </p:nvSpPr>
        <p:spPr>
          <a:xfrm>
            <a:off x="6583680" y="4151376"/>
            <a:ext cx="886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</a:rPr>
              <a:t>Sofisticado</a:t>
            </a:r>
            <a:endParaRPr lang="en-US" sz="850" dirty="0"/>
          </a:p>
        </p:txBody>
      </p:sp>
      <p:sp>
        <p:nvSpPr>
          <p:cNvPr id="31" name="Tono · Cercano"/>
          <p:cNvSpPr/>
          <p:nvPr/>
        </p:nvSpPr>
        <p:spPr>
          <a:xfrm>
            <a:off x="7525512" y="4151376"/>
            <a:ext cx="886968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9525">
            <a:solidFill>
              <a:schemeClr val="bg1">
                <a:alpha val="22000"/>
              </a:schemeClr>
            </a:solidFill>
            <a:prstDash val="solid"/>
          </a:ln>
        </p:spPr>
      </p:sp>
      <p:sp>
        <p:nvSpPr>
          <p:cNvPr id="32" name="Tono · Cercano · texto"/>
          <p:cNvSpPr txBox="1"/>
          <p:nvPr/>
        </p:nvSpPr>
        <p:spPr>
          <a:xfrm>
            <a:off x="7525512" y="4151376"/>
            <a:ext cx="886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</a:rPr>
              <a:t>Cercano</a:t>
            </a:r>
            <a:endParaRPr lang="en-US" sz="8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e fondo"/>
          <p:cNvSpPr txBox="1"/>
          <p:nvPr/>
        </p:nvSpPr>
        <p:spPr>
          <a:xfrm>
            <a:off x="5120640" y="2788920"/>
            <a:ext cx="3931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5000" kern="0" spc="-600" dirty="0">
                <a:solidFill>
                  <a:schemeClr val="bg1">
                    <a:alpha val="3500"/>
                  </a:schemeClr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</a:t>
            </a:r>
            <a:endParaRPr lang="en-US" sz="15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6035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chemeClr val="accent6"/>
                </a:solidFill>
              </a:rPr>
              <a:t>09  </a:t>
            </a:r>
            <a:r>
              <a:rPr lang="en-US" sz="850" b="1" kern="0" spc="300" dirty="0">
                <a:solidFill>
                  <a:schemeClr val="accent2"/>
                </a:solidFill>
              </a:rPr>
              <a:t>—  HOJA DE RUTA</a:t>
            </a:r>
            <a:endParaRPr lang="en-US" sz="85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89611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kern="0" spc="-60" dirty="0">
                <a:solidFill>
                  <a:schemeClr val="bg1"/>
                </a:solidFill>
              </a:rPr>
              <a:t>De concepto </a:t>
            </a:r>
            <a:r>
              <a:rPr lang="en-US" sz="2800" kern="0" spc="-60" dirty="0">
                <a:solidFill>
                  <a:schemeClr val="accent2"/>
                </a:solidFill>
              </a:rPr>
              <a:t>a producto</a:t>
            </a:r>
            <a:endParaRPr lang="en-US" sz="2800" dirty="0"/>
          </a:p>
        </p:txBody>
      </p:sp>
      <p:sp>
        <p:nvSpPr>
          <p:cNvPr id="5" name="Línea temporal"/>
          <p:cNvSpPr/>
          <p:nvPr/>
        </p:nvSpPr>
        <p:spPr>
          <a:xfrm>
            <a:off x="548640" y="1938528"/>
            <a:ext cx="8046720" cy="0"/>
          </a:xfrm>
          <a:prstGeom prst="line">
            <a:avLst/>
          </a:prstGeom>
          <a:noFill/>
          <a:ln w="12700">
            <a:solidFill>
              <a:schemeClr val="bg1">
                <a:alpha val="22000"/>
              </a:schemeClr>
            </a:solidFill>
            <a:prstDash val="solid"/>
          </a:ln>
        </p:spPr>
      </p:sp>
      <p:sp>
        <p:nvSpPr>
          <p:cNvPr id="6" name="Fase 1 · hito"/>
          <p:cNvSpPr/>
          <p:nvPr/>
        </p:nvSpPr>
        <p:spPr>
          <a:xfrm>
            <a:off x="548640" y="1828800"/>
            <a:ext cx="219456" cy="219456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  <a:effectLst>
            <a:outerShdw blurRad="203200" dist="50800" dir="16200000" algn="bl" rotWithShape="0">
              <a:srgbClr val="7C5CFF">
                <a:alpha val="90000"/>
              </a:srgbClr>
            </a:outerShdw>
          </a:effectLst>
        </p:spPr>
      </p:sp>
      <p:sp>
        <p:nvSpPr>
          <p:cNvPr id="7" name="Fase 1"/>
          <p:cNvSpPr/>
          <p:nvPr/>
        </p:nvSpPr>
        <p:spPr>
          <a:xfrm>
            <a:off x="548640" y="2286000"/>
            <a:ext cx="1874520" cy="2148840"/>
          </a:xfrm>
          <a:prstGeom prst="roundRect">
            <a:avLst>
              <a:gd name="adj" fmla="val 7805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bg1">
                <a:alpha val="14000"/>
              </a:schemeClr>
            </a:solidFill>
            <a:prstDash val="solid"/>
          </a:ln>
        </p:spPr>
      </p:sp>
      <p:sp>
        <p:nvSpPr>
          <p:cNvPr id="8" name="Fase 1 · etiqueta"/>
          <p:cNvSpPr txBox="1"/>
          <p:nvPr/>
        </p:nvSpPr>
        <p:spPr>
          <a:xfrm>
            <a:off x="749808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accent2"/>
                </a:solidFill>
              </a:rPr>
              <a:t>FASE 01</a:t>
            </a:r>
            <a:endParaRPr lang="en-US" sz="800" dirty="0"/>
          </a:p>
        </p:txBody>
      </p:sp>
      <p:sp>
        <p:nvSpPr>
          <p:cNvPr id="9" name="Fase 1 · título"/>
          <p:cNvSpPr txBox="1"/>
          <p:nvPr/>
        </p:nvSpPr>
        <p:spPr>
          <a:xfrm>
            <a:off x="749808" y="2743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Identidad y prototipado</a:t>
            </a:r>
            <a:endParaRPr lang="en-US" sz="1400" dirty="0"/>
          </a:p>
        </p:txBody>
      </p:sp>
      <p:sp>
        <p:nvSpPr>
          <p:cNvPr id="10" name="Fase 1 · texto"/>
          <p:cNvSpPr txBox="1"/>
          <p:nvPr/>
        </p:nvSpPr>
        <p:spPr>
          <a:xfrm>
            <a:off x="749808" y="33375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accent6"/>
                </a:solidFill>
              </a:rPr>
              <a:t>Definición del Sonic DNA y creación de las 18 pantallas core de la experiencia.</a:t>
            </a:r>
            <a:endParaRPr lang="en-US" sz="1050" dirty="0"/>
          </a:p>
        </p:txBody>
      </p:sp>
      <p:sp>
        <p:nvSpPr>
          <p:cNvPr id="11" name="Fase 2 · hito"/>
          <p:cNvSpPr/>
          <p:nvPr/>
        </p:nvSpPr>
        <p:spPr>
          <a:xfrm>
            <a:off x="2606040" y="1828800"/>
            <a:ext cx="219456" cy="21945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2" name="Fase 2"/>
          <p:cNvSpPr/>
          <p:nvPr/>
        </p:nvSpPr>
        <p:spPr>
          <a:xfrm>
            <a:off x="2606040" y="2286000"/>
            <a:ext cx="1874520" cy="2148840"/>
          </a:xfrm>
          <a:prstGeom prst="roundRect">
            <a:avLst>
              <a:gd name="adj" fmla="val 7805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bg1">
                <a:alpha val="14000"/>
              </a:schemeClr>
            </a:solidFill>
            <a:prstDash val="solid"/>
          </a:ln>
        </p:spPr>
      </p:sp>
      <p:sp>
        <p:nvSpPr>
          <p:cNvPr id="13" name="Fase 2 · etiqueta"/>
          <p:cNvSpPr txBox="1"/>
          <p:nvPr/>
        </p:nvSpPr>
        <p:spPr>
          <a:xfrm>
            <a:off x="2807208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accent6"/>
                </a:solidFill>
              </a:rPr>
              <a:t>FASE 02</a:t>
            </a:r>
            <a:endParaRPr lang="en-US" sz="800" dirty="0"/>
          </a:p>
        </p:txBody>
      </p:sp>
      <p:sp>
        <p:nvSpPr>
          <p:cNvPr id="14" name="Fase 2 · título"/>
          <p:cNvSpPr txBox="1"/>
          <p:nvPr/>
        </p:nvSpPr>
        <p:spPr>
          <a:xfrm>
            <a:off x="2807208" y="2743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Beta cerrada</a:t>
            </a:r>
            <a:endParaRPr lang="en-US" sz="1400" dirty="0"/>
          </a:p>
        </p:txBody>
      </p:sp>
      <p:sp>
        <p:nvSpPr>
          <p:cNvPr id="15" name="Fase 2 · texto"/>
          <p:cNvSpPr txBox="1"/>
          <p:nvPr/>
        </p:nvSpPr>
        <p:spPr>
          <a:xfrm>
            <a:off x="2807208" y="33375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accent6"/>
                </a:solidFill>
              </a:rPr>
              <a:t>Despliegue para entusiastas y ajuste de microinteracciones rítmicas.</a:t>
            </a:r>
            <a:endParaRPr lang="en-US" sz="1050" dirty="0"/>
          </a:p>
        </p:txBody>
      </p:sp>
      <p:sp>
        <p:nvSpPr>
          <p:cNvPr id="16" name="Fase 3 · hito"/>
          <p:cNvSpPr/>
          <p:nvPr/>
        </p:nvSpPr>
        <p:spPr>
          <a:xfrm>
            <a:off x="4663440" y="1828800"/>
            <a:ext cx="219456" cy="21945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7" name="Fase 3"/>
          <p:cNvSpPr/>
          <p:nvPr/>
        </p:nvSpPr>
        <p:spPr>
          <a:xfrm>
            <a:off x="4663440" y="2286000"/>
            <a:ext cx="1874520" cy="2148840"/>
          </a:xfrm>
          <a:prstGeom prst="roundRect">
            <a:avLst>
              <a:gd name="adj" fmla="val 7805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bg1">
                <a:alpha val="14000"/>
              </a:schemeClr>
            </a:solidFill>
            <a:prstDash val="solid"/>
          </a:ln>
        </p:spPr>
      </p:sp>
      <p:sp>
        <p:nvSpPr>
          <p:cNvPr id="18" name="Fase 3 · etiqueta"/>
          <p:cNvSpPr txBox="1"/>
          <p:nvPr/>
        </p:nvSpPr>
        <p:spPr>
          <a:xfrm>
            <a:off x="4864608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accent6"/>
                </a:solidFill>
              </a:rPr>
              <a:t>FASE 03</a:t>
            </a:r>
            <a:endParaRPr lang="en-US" sz="800" dirty="0"/>
          </a:p>
        </p:txBody>
      </p:sp>
      <p:sp>
        <p:nvSpPr>
          <p:cNvPr id="19" name="Fase 3 · título"/>
          <p:cNvSpPr txBox="1"/>
          <p:nvPr/>
        </p:nvSpPr>
        <p:spPr>
          <a:xfrm>
            <a:off x="4864608" y="2743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Lanzamiento</a:t>
            </a:r>
            <a:endParaRPr lang="en-US" sz="1400" dirty="0"/>
          </a:p>
        </p:txBody>
      </p:sp>
      <p:sp>
        <p:nvSpPr>
          <p:cNvPr id="20" name="Fase 3 · texto"/>
          <p:cNvSpPr txBox="1"/>
          <p:nvPr/>
        </p:nvSpPr>
        <p:spPr>
          <a:xfrm>
            <a:off x="4864608" y="33375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accent6"/>
                </a:solidFill>
              </a:rPr>
              <a:t>SonicFlow v1.0 disponible en iOS, Android y Web.</a:t>
            </a:r>
            <a:endParaRPr lang="en-US" sz="1050" dirty="0"/>
          </a:p>
        </p:txBody>
      </p:sp>
      <p:sp>
        <p:nvSpPr>
          <p:cNvPr id="21" name="Fase 4 · hito"/>
          <p:cNvSpPr/>
          <p:nvPr/>
        </p:nvSpPr>
        <p:spPr>
          <a:xfrm>
            <a:off x="6720840" y="1828800"/>
            <a:ext cx="219456" cy="21945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22" name="Fase 4"/>
          <p:cNvSpPr/>
          <p:nvPr/>
        </p:nvSpPr>
        <p:spPr>
          <a:xfrm>
            <a:off x="6720840" y="2286000"/>
            <a:ext cx="1874520" cy="2148840"/>
          </a:xfrm>
          <a:prstGeom prst="roundRect">
            <a:avLst>
              <a:gd name="adj" fmla="val 7805"/>
            </a:avLst>
          </a:prstGeom>
          <a:solidFill>
            <a:schemeClr val="tx2">
              <a:alpha val="88000"/>
            </a:schemeClr>
          </a:solidFill>
          <a:ln w="9525">
            <a:solidFill>
              <a:schemeClr val="bg1">
                <a:alpha val="14000"/>
              </a:schemeClr>
            </a:solidFill>
            <a:prstDash val="solid"/>
          </a:ln>
        </p:spPr>
      </p:sp>
      <p:sp>
        <p:nvSpPr>
          <p:cNvPr id="23" name="Fase 4 · etiqueta"/>
          <p:cNvSpPr txBox="1"/>
          <p:nvPr/>
        </p:nvSpPr>
        <p:spPr>
          <a:xfrm>
            <a:off x="6922008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accent6"/>
                </a:solidFill>
              </a:rPr>
              <a:t>FASE 04</a:t>
            </a:r>
            <a:endParaRPr lang="en-US" sz="800" dirty="0"/>
          </a:p>
        </p:txBody>
      </p:sp>
      <p:sp>
        <p:nvSpPr>
          <p:cNvPr id="24" name="Fase 4 · título"/>
          <p:cNvSpPr txBox="1"/>
          <p:nvPr/>
        </p:nvSpPr>
        <p:spPr>
          <a:xfrm>
            <a:off x="6922008" y="2743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Ecosistema</a:t>
            </a:r>
            <a:endParaRPr lang="en-US" sz="1400" dirty="0"/>
          </a:p>
        </p:txBody>
      </p:sp>
      <p:sp>
        <p:nvSpPr>
          <p:cNvPr id="25" name="Fase 4 · texto"/>
          <p:cNvSpPr txBox="1"/>
          <p:nvPr/>
        </p:nvSpPr>
        <p:spPr>
          <a:xfrm>
            <a:off x="6922008" y="33375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accent6"/>
                </a:solidFill>
              </a:rPr>
              <a:t>Integración con hardware de audio y expansión del plan Premium.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1234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chemeClr val="accent6"/>
                </a:solidFill>
              </a:rPr>
              <a:t>10  </a:t>
            </a:r>
            <a:r>
              <a:rPr lang="en-US" sz="850" b="1" kern="0" spc="300" dirty="0">
                <a:solidFill>
                  <a:schemeClr val="accent1"/>
                </a:solidFill>
              </a:rPr>
              <a:t>—  SONICFLOW · 2026</a:t>
            </a:r>
            <a:endParaRPr lang="en-US" sz="85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157276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000" kern="0" spc="-100" dirty="0">
                <a:solidFill>
                  <a:schemeClr val="bg1"/>
                </a:solidFill>
              </a:rPr>
              <a:t>Encuentra </a:t>
            </a:r>
            <a:r>
              <a:rPr lang="en-US" sz="4000" kern="0" spc="-100" dirty="0">
                <a:solidFill>
                  <a:schemeClr val="accent1"/>
                </a:solidFill>
              </a:rPr>
              <a:t>tu frecuencia.</a:t>
            </a:r>
            <a:endParaRPr lang="en-US" sz="4000" dirty="0"/>
          </a:p>
        </p:txBody>
      </p:sp>
      <p:sp>
        <p:nvSpPr>
          <p:cNvPr id="4" name="Cierre · texto"/>
          <p:cNvSpPr txBox="1"/>
          <p:nvPr/>
        </p:nvSpPr>
        <p:spPr>
          <a:xfrm>
            <a:off x="54864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Hecho para quien escucha de verdad.</a:t>
            </a:r>
            <a:endParaRPr lang="en-US" sz="1600" dirty="0"/>
          </a:p>
        </p:txBody>
      </p:sp>
      <p:pic>
        <p:nvPicPr>
          <p:cNvPr id="5" name="Ecualizado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4023360" cy="685800"/>
          </a:xfrm>
          <a:prstGeom prst="rect">
            <a:avLst/>
          </a:prstGeom>
        </p:spPr>
      </p:pic>
      <p:sp>
        <p:nvSpPr>
          <p:cNvPr id="6" name="Ondas · anillo 1"/>
          <p:cNvSpPr/>
          <p:nvPr/>
        </p:nvSpPr>
        <p:spPr>
          <a:xfrm>
            <a:off x="6949440" y="2240280"/>
            <a:ext cx="822960" cy="8229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7" name="Ondas · anillo 2"/>
          <p:cNvSpPr/>
          <p:nvPr/>
        </p:nvSpPr>
        <p:spPr>
          <a:xfrm>
            <a:off x="6629400" y="1920240"/>
            <a:ext cx="1463040" cy="146304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>
                <a:alpha val="51000"/>
              </a:schemeClr>
            </a:solidFill>
            <a:prstDash val="solid"/>
          </a:ln>
        </p:spPr>
      </p:sp>
      <p:sp>
        <p:nvSpPr>
          <p:cNvPr id="8" name="Ondas · anillo 3"/>
          <p:cNvSpPr/>
          <p:nvPr/>
        </p:nvSpPr>
        <p:spPr>
          <a:xfrm>
            <a:off x="6309360" y="1600200"/>
            <a:ext cx="2103120" cy="210312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>
                <a:alpha val="37000"/>
              </a:schemeClr>
            </a:solidFill>
            <a:prstDash val="solid"/>
          </a:ln>
        </p:spPr>
      </p:sp>
      <p:sp>
        <p:nvSpPr>
          <p:cNvPr id="9" name="Ondas · anillo 4"/>
          <p:cNvSpPr/>
          <p:nvPr/>
        </p:nvSpPr>
        <p:spPr>
          <a:xfrm>
            <a:off x="5989320" y="1280160"/>
            <a:ext cx="2743200" cy="2743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>
                <a:alpha val="23000"/>
              </a:schemeClr>
            </a:solidFill>
            <a:prstDash val="solid"/>
          </a:ln>
        </p:spPr>
      </p:sp>
      <p:sp>
        <p:nvSpPr>
          <p:cNvPr id="10" name="Ondas · punto"/>
          <p:cNvSpPr/>
          <p:nvPr/>
        </p:nvSpPr>
        <p:spPr>
          <a:xfrm>
            <a:off x="7242048" y="253288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228600" dist="50800" dir="16200000" algn="bl" rotWithShape="0">
              <a:srgbClr val="38BDF8">
                <a:alpha val="80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nicFlow Motion">
  <a:themeElements>
    <a:clrScheme name="SonicFlow Motion">
      <a:dk1>
        <a:srgbClr val="05070B"/>
      </a:dk1>
      <a:lt1>
        <a:srgbClr val="F3F6FA"/>
      </a:lt1>
      <a:dk2>
        <a:srgbClr val="0B1118"/>
      </a:dk2>
      <a:lt2>
        <a:srgbClr val="111A25"/>
      </a:lt2>
      <a:accent1>
        <a:srgbClr val="38BDF8"/>
      </a:accent1>
      <a:accent2>
        <a:srgbClr val="7C5CFF"/>
      </a:accent2>
      <a:accent3>
        <a:srgbClr val="EC4C7C"/>
      </a:accent3>
      <a:accent4>
        <a:srgbClr val="27B992"/>
      </a:accent4>
      <a:accent5>
        <a:srgbClr val="0E3249"/>
      </a:accent5>
      <a:accent6>
        <a:srgbClr val="9AA9BC"/>
      </a:accent6>
      <a:hlink>
        <a:srgbClr val="38BDF8"/>
      </a:hlink>
      <a:folHlink>
        <a:srgbClr val="7C5CFF"/>
      </a:folHlink>
    </a:clrScheme>
    <a:fontScheme name="SonicFlow Motion">
      <a:majorFont>
        <a:latin typeface="Inter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508</Words>
  <Application>Microsoft Office PowerPoint</Application>
  <PresentationFormat>Presentación en pantalla (16:9)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Inter</vt:lpstr>
      <vt:lpstr>Inter ExtraBold</vt:lpstr>
      <vt:lpstr>SonicFlow Motion</vt:lpstr>
      <vt:lpstr>SonicFlow</vt:lpstr>
      <vt:lpstr>La música no debería sonar a una app.</vt:lpstr>
      <vt:lpstr>Un hueco claro en la experiencia</vt:lpstr>
      <vt:lpstr>Señal · Fuente · Flujo</vt:lpstr>
      <vt:lpstr>Una experiencia que se retira</vt:lpstr>
      <vt:lpstr>Diseñada para escuchar de verdad</vt:lpstr>
      <vt:lpstr>El valor se siente antes de explicarse</vt:lpstr>
      <vt:lpstr>Un sistema reconocible</vt:lpstr>
      <vt:lpstr>De concepto a producto</vt:lpstr>
      <vt:lpstr>Encuentra tu frecuencia.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SonicFlow · Propuesta de producto v1.2</dc:title>
  <dc:subject>Propuesta de producto</dc:subject>
  <dc:creator>SonicFlow</dc:creator>
  <cp:lastModifiedBy>daw2</cp:lastModifiedBy>
  <cp:revision>1</cp:revision>
  <dcterms:created xsi:type="dcterms:W3CDTF">2026-10-27T18:12:03Z</dcterms:created>
  <dcterms:modified xsi:type="dcterms:W3CDTF">2026-10-27T18:17:51Z</dcterms:modified>
</cp:coreProperties>
</file>