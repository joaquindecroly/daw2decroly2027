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2900" y="342900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" name="Text 1"/>
          <p:cNvSpPr/>
          <p:nvPr/>
        </p:nvSpPr>
        <p:spPr>
          <a:xfrm>
            <a:off x="2752744" y="2145078"/>
            <a:ext cx="3638457" cy="578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73600"/>
              </a:lnSpc>
              <a:buNone/>
            </a:pPr>
            <a:r>
              <a:rPr lang="en-US" sz="4550" b="1" spc="-3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SONICFLOW</a:t>
            </a:r>
            <a:endParaRPr lang="en-US" sz="4550" dirty="0"/>
          </a:p>
        </p:txBody>
      </p:sp>
      <p:sp>
        <p:nvSpPr>
          <p:cNvPr id="5" name="Text 2"/>
          <p:cNvSpPr/>
          <p:nvPr/>
        </p:nvSpPr>
        <p:spPr>
          <a:xfrm>
            <a:off x="3583986" y="2823400"/>
            <a:ext cx="197597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2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SONIDO, REIMAGINADO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42900" y="4689872"/>
            <a:ext cx="164808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PROPUESTA DE PRODUCTO · V1.2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8045258" y="4689872"/>
            <a:ext cx="75584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OCTUBRE 2026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68822"/>
            <a:ext cx="57150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4150" b="1" spc="-3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La música no debería </a:t>
            </a:r>
            <a:r>
              <a:rPr lang="en-US" sz="4150" b="1" spc="-3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sonar a una app.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457200" y="2954722"/>
            <a:ext cx="4286250" cy="7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Demasiada interfaz, demasiadas decisiones y poco espacio para lo único que importa: la escucha activa.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541748" y="4564856"/>
            <a:ext cx="1450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700088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Un hueco claro en la experiencia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57200" y="1728788"/>
            <a:ext cx="36861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EL RUIDO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57200" y="2021681"/>
            <a:ext cx="36861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Algoritmos intrusivos y saturación visual que fragmentan la atención del oyente.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016058"/>
            <a:ext cx="36861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mercado actual prioriza el consumo rápido sobre la calidad del momento de escucha.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25" y="1728788"/>
            <a:ext cx="36861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LA OPORTUNIDAD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000625" y="2021681"/>
            <a:ext cx="36861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Un público que valora la fidelidad, el orden y una interfaz que se retira.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00625" y="3016058"/>
            <a:ext cx="36861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Crafted for enthusiasts: personas que buscan su frecuencia sin distracciones innecesarias.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541748" y="4564856"/>
            <a:ext cx="1450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700088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Señal · Fuente · Flujo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57200" y="1964531"/>
            <a:ext cx="2438363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2289572"/>
            <a:ext cx="24383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SEÑAL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703909"/>
            <a:ext cx="24383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cian solo aparece donde hay acción o sonido. Un piloto de precisión que guía sin deslumbrar.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352763" y="1964531"/>
            <a:ext cx="2438419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52763" y="2289572"/>
            <a:ext cx="243841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FUENTE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352763" y="2703909"/>
            <a:ext cx="24384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punto (◉) como origen del sonido. La pureza del altavoz y el estudio a oscuras donde nace la música.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48381" y="1964531"/>
            <a:ext cx="2438419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48381" y="2289572"/>
            <a:ext cx="243841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FLUJO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48381" y="2703909"/>
            <a:ext cx="24384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Transiciones continuas y mini-player persistente. Nada interrumpe la conexión entre el usuario y su audio.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538177" y="4564856"/>
            <a:ext cx="14862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700088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Una experiencia que se retira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742950" y="2745711"/>
            <a:ext cx="1714500" cy="1209415"/>
          </a:xfrm>
          <a:prstGeom prst="rect">
            <a:avLst/>
          </a:prstGeom>
          <a:solidFill>
            <a:srgbClr val="07090E"/>
          </a:solidFill>
          <a:ln/>
        </p:spPr>
      </p:sp>
      <p:sp>
        <p:nvSpPr>
          <p:cNvPr id="5" name="Text 2"/>
          <p:cNvSpPr/>
          <p:nvPr/>
        </p:nvSpPr>
        <p:spPr>
          <a:xfrm>
            <a:off x="885825" y="3202911"/>
            <a:ext cx="14287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DESCUBRIR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85825" y="3492233"/>
            <a:ext cx="1428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Selección curada sin fricción visual.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714750" y="2745711"/>
            <a:ext cx="1714500" cy="1209415"/>
          </a:xfrm>
          <a:prstGeom prst="rect">
            <a:avLst/>
          </a:prstGeom>
          <a:solidFill>
            <a:srgbClr val="07090E"/>
          </a:solidFill>
          <a:ln/>
        </p:spPr>
      </p:sp>
      <p:sp>
        <p:nvSpPr>
          <p:cNvPr id="8" name="Text 5"/>
          <p:cNvSpPr/>
          <p:nvPr/>
        </p:nvSpPr>
        <p:spPr>
          <a:xfrm>
            <a:off x="3857625" y="3202911"/>
            <a:ext cx="14287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ESCUCHAR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57625" y="3492233"/>
            <a:ext cx="1428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Inmersión total. Controles mínimos.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686550" y="2745711"/>
            <a:ext cx="1714500" cy="1209415"/>
          </a:xfrm>
          <a:prstGeom prst="rect">
            <a:avLst/>
          </a:prstGeom>
          <a:solidFill>
            <a:srgbClr val="07090E"/>
          </a:solidFill>
          <a:ln/>
        </p:spPr>
      </p:sp>
      <p:sp>
        <p:nvSpPr>
          <p:cNvPr id="11" name="Text 8"/>
          <p:cNvSpPr/>
          <p:nvPr/>
        </p:nvSpPr>
        <p:spPr>
          <a:xfrm>
            <a:off x="6829425" y="3202911"/>
            <a:ext cx="14287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VOLVER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29425" y="3492233"/>
            <a:ext cx="1428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Continuidad absoluta en cada sesión.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541748" y="4564856"/>
            <a:ext cx="1450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1513080"/>
            <a:ext cx="342900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2000" b="1" spc="-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Diseñada para escuchar de verdad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0063" y="2307375"/>
            <a:ext cx="32718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Jerarquía Crítica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0063" y="2521688"/>
            <a:ext cx="22681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música ocupa el 80% de la superficie visual.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0063" y="2795997"/>
            <a:ext cx="32718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Cian Funcional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0063" y="3010309"/>
            <a:ext cx="24110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 del color para interacción y estado activo.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00063" y="3284618"/>
            <a:ext cx="32718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Estudio Oscuro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0063" y="3498931"/>
            <a:ext cx="2536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Fondos negros profundos para inmersión OLED total.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222202" y="551970"/>
            <a:ext cx="2154627" cy="4120822"/>
          </a:xfrm>
          <a:prstGeom prst="rect">
            <a:avLst/>
          </a:prstGeom>
          <a:solidFill>
            <a:srgbClr val="000000"/>
          </a:solidFill>
          <a:ln w="9144">
            <a:solidFill>
              <a:srgbClr val="151A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59776" y="3921213"/>
            <a:ext cx="1852370" cy="590225"/>
          </a:xfrm>
          <a:prstGeom prst="rect">
            <a:avLst/>
          </a:prstGeom>
          <a:solidFill>
            <a:srgbClr val="151A23"/>
          </a:solidFill>
          <a:ln/>
        </p:spPr>
      </p:sp>
      <p:sp>
        <p:nvSpPr>
          <p:cNvPr id="12" name="Shape 9"/>
          <p:cNvSpPr/>
          <p:nvPr/>
        </p:nvSpPr>
        <p:spPr>
          <a:xfrm>
            <a:off x="5759458" y="4168554"/>
            <a:ext cx="1346696" cy="95130"/>
          </a:xfrm>
          <a:prstGeom prst="rect">
            <a:avLst/>
          </a:prstGeom>
          <a:solidFill>
            <a:srgbClr val="0E334A"/>
          </a:solidFill>
          <a:ln/>
        </p:spPr>
      </p:sp>
      <p:sp>
        <p:nvSpPr>
          <p:cNvPr id="13" name="Text 10"/>
          <p:cNvSpPr/>
          <p:nvPr/>
        </p:nvSpPr>
        <p:spPr>
          <a:xfrm>
            <a:off x="8664476" y="4689872"/>
            <a:ext cx="13662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700088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El valor se siente antes de explicarse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57200" y="1614488"/>
            <a:ext cx="3291818" cy="296466"/>
          </a:xfrm>
          <a:prstGeom prst="rect">
            <a:avLst/>
          </a:prstGeom>
          <a:noFill/>
          <a:ln/>
        </p:spPr>
        <p:txBody>
          <a:bodyPr wrap="square" lIns="0" tIns="0" rIns="0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8B949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CARACTERÍSTICA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749018" y="1614488"/>
            <a:ext cx="2468835" cy="296466"/>
          </a:xfrm>
          <a:prstGeom prst="rect">
            <a:avLst/>
          </a:prstGeom>
          <a:noFill/>
          <a:ln/>
        </p:spPr>
        <p:txBody>
          <a:bodyPr wrap="square" lIns="0" tIns="0" rIns="0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8B949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SONICFLOW FREE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217853" y="1614488"/>
            <a:ext cx="2468947" cy="296466"/>
          </a:xfrm>
          <a:prstGeom prst="rect">
            <a:avLst/>
          </a:prstGeom>
          <a:noFill/>
          <a:ln/>
        </p:spPr>
        <p:txBody>
          <a:bodyPr wrap="square" lIns="0" tIns="0" rIns="0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SONICFLOW PREMIUM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" y="1910953"/>
            <a:ext cx="3291818" cy="692944"/>
          </a:xfrm>
          <a:prstGeom prst="rect">
            <a:avLst/>
          </a:prstGeom>
          <a:noFill/>
          <a:ln/>
        </p:spPr>
        <p:txBody>
          <a:bodyPr wrap="square" lIns="0" tIns="272161" rIns="0" bIns="272161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Calidad de Audio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49018" y="1910953"/>
            <a:ext cx="2468835" cy="692944"/>
          </a:xfrm>
          <a:prstGeom prst="rect">
            <a:avLst/>
          </a:prstGeom>
          <a:noFill/>
          <a:ln/>
        </p:spPr>
        <p:txBody>
          <a:bodyPr wrap="square" lIns="0" tIns="272161" rIns="0" bIns="272161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Estándar (160kbps)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17853" y="1910953"/>
            <a:ext cx="2468947" cy="692944"/>
          </a:xfrm>
          <a:prstGeom prst="rect">
            <a:avLst/>
          </a:prstGeom>
          <a:noFill/>
          <a:ln/>
        </p:spPr>
        <p:txBody>
          <a:bodyPr wrap="square" lIns="0" tIns="272161" rIns="0" bIns="272161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Lossless (Hi-Res Audio)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603897"/>
            <a:ext cx="3291818" cy="692944"/>
          </a:xfrm>
          <a:prstGeom prst="rect">
            <a:avLst/>
          </a:prstGeom>
          <a:noFill/>
          <a:ln/>
        </p:spPr>
        <p:txBody>
          <a:bodyPr wrap="square" lIns="0" tIns="272161" rIns="0" bIns="272161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Continuidad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749018" y="2603897"/>
            <a:ext cx="2468835" cy="692944"/>
          </a:xfrm>
          <a:prstGeom prst="rect">
            <a:avLst/>
          </a:prstGeom>
          <a:noFill/>
          <a:ln/>
        </p:spPr>
        <p:txBody>
          <a:bodyPr wrap="square" lIns="0" tIns="272161" rIns="0" bIns="272161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interrupciones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17853" y="2603897"/>
            <a:ext cx="2468947" cy="692944"/>
          </a:xfrm>
          <a:prstGeom prst="rect">
            <a:avLst/>
          </a:prstGeom>
          <a:noFill/>
          <a:ln/>
        </p:spPr>
        <p:txBody>
          <a:bodyPr wrap="square" lIns="0" tIns="272161" rIns="0" bIns="272161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Flujo sin publicidad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3296841"/>
            <a:ext cx="3291818" cy="692944"/>
          </a:xfrm>
          <a:prstGeom prst="rect">
            <a:avLst/>
          </a:prstGeom>
          <a:noFill/>
          <a:ln/>
        </p:spPr>
        <p:txBody>
          <a:bodyPr wrap="square" lIns="0" tIns="272161" rIns="0" bIns="272161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Modo Offline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749018" y="3296841"/>
            <a:ext cx="2468835" cy="692944"/>
          </a:xfrm>
          <a:prstGeom prst="rect">
            <a:avLst/>
          </a:prstGeom>
          <a:noFill/>
          <a:ln/>
        </p:spPr>
        <p:txBody>
          <a:bodyPr wrap="square" lIns="0" tIns="272161" rIns="0" bIns="272161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17853" y="3555802"/>
            <a:ext cx="1214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39297" y="3555802"/>
            <a:ext cx="1460897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Descargas ilimitadas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3989784"/>
            <a:ext cx="3291818" cy="692944"/>
          </a:xfrm>
          <a:prstGeom prst="rect">
            <a:avLst/>
          </a:prstGeom>
          <a:noFill/>
          <a:ln/>
        </p:spPr>
        <p:txBody>
          <a:bodyPr wrap="square" lIns="0" tIns="272161" rIns="0" bIns="272161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Personalización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49018" y="3989784"/>
            <a:ext cx="2468835" cy="692944"/>
          </a:xfrm>
          <a:prstGeom prst="rect">
            <a:avLst/>
          </a:prstGeom>
          <a:noFill/>
          <a:ln/>
        </p:spPr>
        <p:txBody>
          <a:bodyPr wrap="square" lIns="0" tIns="272161" rIns="0" bIns="272161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Básica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217853" y="4248745"/>
            <a:ext cx="1214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39297" y="4248745"/>
            <a:ext cx="155376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Perfiles EQ Dinámicos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548892" y="4564856"/>
            <a:ext cx="13790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700088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Un sistema reconocible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57200" y="1614488"/>
            <a:ext cx="3971925" cy="1444823"/>
          </a:xfrm>
          <a:prstGeom prst="rect">
            <a:avLst/>
          </a:prstGeom>
          <a:solidFill>
            <a:srgbClr val="151A23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843088"/>
            <a:ext cx="35147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8B949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PALETA DE COLOR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85800" y="2709267"/>
            <a:ext cx="35147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Cian Sonic · Negro Estudio · Blanco · Pizarra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714875" y="1614488"/>
            <a:ext cx="3971925" cy="1444823"/>
          </a:xfrm>
          <a:prstGeom prst="rect">
            <a:avLst/>
          </a:prstGeom>
          <a:solidFill>
            <a:srgbClr val="151A23"/>
          </a:solidFill>
          <a:ln/>
        </p:spPr>
      </p:sp>
      <p:sp>
        <p:nvSpPr>
          <p:cNvPr id="8" name="Text 5"/>
          <p:cNvSpPr/>
          <p:nvPr/>
        </p:nvSpPr>
        <p:spPr>
          <a:xfrm>
            <a:off x="4943475" y="1843088"/>
            <a:ext cx="35147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8B949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TIPOGRAFÍA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943475" y="2160091"/>
            <a:ext cx="351472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Inter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943475" y="2587823"/>
            <a:ext cx="35147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Weights: 400, 600, 800</a:t>
            </a: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Precisión y legibilidad clínica.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57200" y="3345061"/>
            <a:ext cx="3971925" cy="1341239"/>
          </a:xfrm>
          <a:prstGeom prst="rect">
            <a:avLst/>
          </a:prstGeom>
          <a:solidFill>
            <a:srgbClr val="151A23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573661"/>
            <a:ext cx="35147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8B949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MOVIMIENTO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685800" y="4033540"/>
            <a:ext cx="3514725" cy="14288"/>
          </a:xfrm>
          <a:prstGeom prst="rect">
            <a:avLst/>
          </a:prstGeom>
          <a:solidFill>
            <a:srgbClr val="0E334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4214813"/>
            <a:ext cx="35147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Duración: 120ms - 300ms</a:t>
            </a: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Curvas de salida discretas y rítmicas.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714875" y="3345061"/>
            <a:ext cx="3971925" cy="1341239"/>
          </a:xfrm>
          <a:prstGeom prst="rect">
            <a:avLst/>
          </a:prstGeom>
          <a:solidFill>
            <a:srgbClr val="151A23"/>
          </a:solidFill>
          <a:ln/>
        </p:spPr>
      </p:sp>
      <p:sp>
        <p:nvSpPr>
          <p:cNvPr id="16" name="Text 13"/>
          <p:cNvSpPr/>
          <p:nvPr/>
        </p:nvSpPr>
        <p:spPr>
          <a:xfrm>
            <a:off x="4943475" y="3573661"/>
            <a:ext cx="35147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8B949E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TONO DE VOZ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943475" y="4013895"/>
            <a:ext cx="351472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"Encuentra tu frecuencia"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943475" y="4336256"/>
            <a:ext cx="35147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Preciso, inmersivo, sofisticado y cercano.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8541748" y="4564856"/>
            <a:ext cx="1450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700088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 concepto a producto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57200" y="1728788"/>
            <a:ext cx="8229600" cy="7144"/>
          </a:xfrm>
          <a:prstGeom prst="rect">
            <a:avLst/>
          </a:prstGeom>
          <a:solidFill>
            <a:srgbClr val="0E334A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978819"/>
            <a:ext cx="64294" cy="6429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243138"/>
            <a:ext cx="18430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FASE 01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" y="2478881"/>
            <a:ext cx="18430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Identidad y Prototipado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004617"/>
            <a:ext cx="18430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Definición del Sonic DNA y creación de las 18 pantallas core de la experiencia.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86038" y="1978819"/>
            <a:ext cx="64294" cy="6429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7"/>
          <p:cNvSpPr/>
          <p:nvPr/>
        </p:nvSpPr>
        <p:spPr>
          <a:xfrm>
            <a:off x="2586038" y="2243138"/>
            <a:ext cx="18430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FASE 02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586038" y="2478881"/>
            <a:ext cx="18430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Beta Cerrada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86038" y="2798899"/>
            <a:ext cx="18430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 para entusiastas y ajuste de microinteracciones rítmicas.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14875" y="1978819"/>
            <a:ext cx="64294" cy="6429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1"/>
          <p:cNvSpPr/>
          <p:nvPr/>
        </p:nvSpPr>
        <p:spPr>
          <a:xfrm>
            <a:off x="4714875" y="2243138"/>
            <a:ext cx="18430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FASE 03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714875" y="2478881"/>
            <a:ext cx="18430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Lanzamiento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14875" y="2798899"/>
            <a:ext cx="18430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SonicFlow v1.0 disponible en iOS, Android y Web.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843713" y="1978819"/>
            <a:ext cx="64294" cy="6429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8" name="Text 15"/>
          <p:cNvSpPr/>
          <p:nvPr/>
        </p:nvSpPr>
        <p:spPr>
          <a:xfrm>
            <a:off x="6843713" y="2243138"/>
            <a:ext cx="18430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FASE 04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843713" y="2478881"/>
            <a:ext cx="18430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Ecosistema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43713" y="2798899"/>
            <a:ext cx="18430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con hardware de audio y expansión del plan Premium.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541748" y="4564856"/>
            <a:ext cx="1450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1229" y="1841302"/>
            <a:ext cx="6441542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150" b="1" spc="-3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Encuentra tu frecuencia.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3472532" y="2991445"/>
            <a:ext cx="2198880" cy="3107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472532" y="3287911"/>
            <a:ext cx="2198880" cy="14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3"/>
          <p:cNvSpPr/>
          <p:nvPr/>
        </p:nvSpPr>
        <p:spPr>
          <a:xfrm>
            <a:off x="3472532" y="2991445"/>
            <a:ext cx="2198880" cy="310753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4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SONICFLOW ·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357172" y="4564856"/>
            <a:ext cx="242960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HECHO PARA QUIEN ESCUCHA DE VERDAD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2026-10-27T17:01:42Z</dcterms:created>
  <dcterms:modified xsi:type="dcterms:W3CDTF">2026-10-27T17:01:42Z</dcterms:modified>
</cp:coreProperties>
</file>